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zh-CN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这份发布公告的核心，可以浓缩成一句话：GPT-5.6 希望让每一个 token 产生更多智能，也让每一美元换来更高性能。新家族从 Luna、Terra 到 Sol 覆盖不同成本与能力层级，再通过 default、max 和 ultra 让推理强度随任务难度继续扩展。接下来我们不只看“更强”这个结论，而是沿着专业工作、编码、工具、安全和价格五条证据链判断它是否值得采用。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GPT-5.6 的价值主张包含三个互相支撑的部分：每个 token 更高的智能、完成任务更低的总成本，以及按需扩展能力。公告给出的证据横跨专业工作、编码和科研，同时强调更少 token、更短用时和更低成本。真正的新意不是单一旗舰模型，而是三档模型与三档推理强度组合成一套可配置能力系统，让任务难度、时延和预算共同决定使用方式。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选型时先区分模型层级。Luna 最快、价格最低，适合高频、低时延和规模化日常任务；Terra 在质量、价格与响应之间取得平衡，可以作为日常主力；Sol 面向复杂专业工作、长时编码和关键交付。然后再选择推理强度：default 平衡速度与质量，max 提高准确性与韧性，ultra 则是可以协调多个智能体并行工作的最高设置。顺序很重要，先匹配模型，再为风险与复杂度增加推理预算。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在覆盖五十五个领域和长时专业工作流的 Agents' Last Exam 中，GPT-5.6 Sol 得到五十三点六分，比 Claude Fable 5 的四十点五分高十三点一分。即使使用中等推理强度，公告仍称其领先十一点四分。效率同样关键：在 Artificial Analysis Intelligence Index 的相近能力对比中，用时减少百分之六十一，预估成本约为一半；Terra 和 Luna 则以大约十六分之一的成本超过 Fable 5。这里的结论是，高质量不再必然要求同比例增加时间与成本。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在 Artificial Analysis Coding Agent Index 上，Sol 以八十分领先，Terra 为七十七点四，GPT-5.5 为七十六点四，Luna 为七十四点六，优势覆盖整个家族。Sol 在 Terminal-Bench 二点一达到百分之八十八点八，在 DeepSWE 一点一达到百分之七十二点七。更重要的机制是程序化工具调用：模型可以在内存中编写轻量程序，协调工具、处理中间结果并选择下一步，从而减少 token、模型往返和人工指导。该能力兼容零数据保留，多智能体功能在首发时以 beta 形式提供。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ultra 的变化不只是让单一推理链持续更久，而是把复杂任务拆成检索、编码、验证和整合等并行工作流，再由协调器综合结果。在 Terminal-Bench 二点一上，Sol 从 max 的百分之八十八点八提升到 ultra 的百分之九十一点九，增加三点一个百分点。对于能够拆分、验证成本高，或需要多条证据链互相校验的任务，ultra 的价值最明显；简单线性任务则未必需要最高设置。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知识工作方面，Sol ultra 在 BrowseComp 达到百分之九十二点二，Sol 在 OSWorld 二点零达到百分之六十二点六，并以少百分之八十五的输出 token 超过 Opus 4.8。公告描述的端到端流程，是从文档、Slack、Microsoft 365 和 Google Drive 等杂乱上下文中提取信息，完成核验、组织与计算，再交付可分享成果。设计判断力也被纳入能力范围：模型可以从零创建可编辑的演示文稿、文档和表格，还能从不完整的品牌模板推断视觉系统。最终标准不是生成内容，而是布局、层级、设计和准确性同时可用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网络安全是能力跃迁最明显、治理要求也最高的领域。Sol 在 SEC-Bench Pro 为百分之七十一点二，对比 GPT-5.5 的百分之四十五点八；ExploitBench 为百分之七十三点五，对比百分之四十七点九；ExploitGym 六小时通过率为百分之三十三点七，对比百分之十五点一，另外两小时通过率为百分之二十四点九。这些能力可以用于安全代码审查、补丁、威胁建模和授权环境内的漏洞验证，但前提是可信访问、持续监控和风险校准同步扩展。OpenAI Daybreak 被定位为这一类防御工作的可信访问通道。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公告把安全描述为一个分层系统，而不是单一分类器。模型内生防护位于核心，外层依次包括实时检查与推理监控器、持续监控与账户级执行，以及可信访问和风险校准；多层冗余让系统在某一层失效时仍保留防线。发布前测试投入约七十万个 NVIDIA A100 等效小时，Sol 的网络安全防护拦截潜在有害活动约为此前模型的十倍。官方称评估没有达到 Critical 能力阈值，但也明确承认双重用途能力需要持续监控、快速修复与可信访问。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内部使用显示 AI 辅助正在成为研发默认工作方式：每位活跃研究人员的日均输出 token 超过 GPT-5.5 最高水平的两倍，覆盖故障诊断、训练系统优化、实验运行和结果解释。过去六个月，内部编码推理的算力份额增长一百倍，智能体 token 使用量约增长二十二倍；在递归式自我改进评测中，Sol 比 GPT-5.5 综合提升十六点二分。但必须保留公告中的限定：采用量并不等于研究进展。它证明工作方式正在迁移，实际效果仍需用真实任务评测验证。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GPT-5.6 在发布当日进入 ChatGPT、Codex 和 OpenAI API，全球可用性在随后二十四小时内逐步扩大。七月九日首发价按每一百万 token 计算：Sol 输入五美元、输出三十美元；Terra 输入二点五美元、输出十五美元；Luna 输入一美元、输出六美元。七月三十日更新又将 Terra 价格下调百分之二十、Luna 下调百分之八十，因此页面保留首发价并单独标记后续降幅。提示缓存至少持续三十分钟，写入按未缓存输入费率的一点二五倍计费，读取相对输入价格享受百分之九十折扣。</a:t>
            </a:r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最后把选型变成一个简单的两步判断。高频、批量、低时延且成本优先的任务从 Luna 开始；日常知识工作、常规编码和规模化落地优先考虑 Terra；失败成本高、需要深度推理与验证的关键任务选择 Sol。推理强度从 default 起步，高风险或高复杂度时提高到 max，只有当任务可拆分且足够艰巨时再使用 ultra。试用判断的核心不是谁最强，而是哪条能力路径最适合这项工作；建议用代表性真实任务建立质量、时延、成本和安全四维基线。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penAI_GPT-5.6_发布公告_中文版_2026-07-09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Freeform 2"/>
            <p:cNvSpPr/>
            <p:nvPr/>
          </p:nvSpPr>
          <p:spPr>
            <a:xfrm>
              <a:off x="0" y="1104900"/>
              <a:ext cx="12192000" cy="4572000"/>
            </a:xfrm>
            <a:custGeom>
              <a:avLst/>
              <a:gdLst/>
              <a:ahLst/>
              <a:cxnLst/>
              <a:rect l="l" t="t" r="r" b="b"/>
              <a:pathLst>
                <a:path w="12192000" h="4572000">
                  <a:moveTo>
                    <a:pt x="0" y="0"/>
                  </a:moveTo>
                  <a:lnTo>
                    <a:pt x="12192000" y="0"/>
                  </a:lnTo>
                  <a:moveTo>
                    <a:pt x="0" y="1143000"/>
                  </a:moveTo>
                  <a:lnTo>
                    <a:pt x="12192000" y="1143000"/>
                  </a:lnTo>
                  <a:moveTo>
                    <a:pt x="0" y="2286000"/>
                  </a:moveTo>
                  <a:lnTo>
                    <a:pt x="12192000" y="2286000"/>
                  </a:lnTo>
                  <a:moveTo>
                    <a:pt x="0" y="3429000"/>
                  </a:moveTo>
                  <a:lnTo>
                    <a:pt x="12192000" y="3429000"/>
                  </a:lnTo>
                  <a:moveTo>
                    <a:pt x="0" y="4572000"/>
                  </a:moveTo>
                  <a:lnTo>
                    <a:pt x="12192000" y="4572000"/>
                  </a:lnTo>
                </a:path>
              </a:pathLst>
            </a:custGeom>
            <a:noFill/>
            <a:ln w="9525">
              <a:solidFill>
                <a:schemeClr val="accent6">
                  <a:alpha val="34000"/>
                </a:schemeClr>
              </a:solidFill>
            </a:ln>
          </p:spPr>
        </p:sp>
        <p:sp>
          <p:nvSpPr>
            <p:cNvPr id="3" name="Freeform 3"/>
            <p:cNvSpPr/>
            <p:nvPr/>
          </p:nvSpPr>
          <p:spPr>
            <a:xfrm>
              <a:off x="1524000" y="0"/>
              <a:ext cx="9144000" cy="6858000"/>
            </a:xfrm>
            <a:custGeom>
              <a:avLst/>
              <a:gdLst/>
              <a:ahLst/>
              <a:cxnLst/>
              <a:rect l="l" t="t" r="r" b="b"/>
              <a:pathLst>
                <a:path w="9144000" h="6858000">
                  <a:moveTo>
                    <a:pt x="0" y="0"/>
                  </a:moveTo>
                  <a:lnTo>
                    <a:pt x="0" y="6858000"/>
                  </a:lnTo>
                  <a:moveTo>
                    <a:pt x="1524000" y="0"/>
                  </a:moveTo>
                  <a:lnTo>
                    <a:pt x="1524000" y="6858000"/>
                  </a:lnTo>
                  <a:moveTo>
                    <a:pt x="3048000" y="0"/>
                  </a:moveTo>
                  <a:lnTo>
                    <a:pt x="3048000" y="6858000"/>
                  </a:lnTo>
                  <a:moveTo>
                    <a:pt x="4572000" y="0"/>
                  </a:moveTo>
                  <a:lnTo>
                    <a:pt x="4572000" y="6858000"/>
                  </a:lnTo>
                  <a:moveTo>
                    <a:pt x="6096000" y="0"/>
                  </a:moveTo>
                  <a:lnTo>
                    <a:pt x="6096000" y="6858000"/>
                  </a:lnTo>
                  <a:moveTo>
                    <a:pt x="7620000" y="0"/>
                  </a:moveTo>
                  <a:lnTo>
                    <a:pt x="7620000" y="6858000"/>
                  </a:lnTo>
                  <a:moveTo>
                    <a:pt x="9144000" y="0"/>
                  </a:moveTo>
                  <a:lnTo>
                    <a:pt x="914400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34000"/>
                </a:schemeClr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685800" y="552450"/>
            <a:ext cx="1952655" cy="308134"/>
            <a:chOff x="685800" y="552450"/>
            <a:chExt cx="1952655" cy="308134"/>
          </a:xfrm>
        </p:grpSpPr>
        <p:sp>
          <p:nvSpPr>
            <p:cNvPr id="5" name="Rectangle 5"/>
            <p:cNvSpPr/>
            <p:nvPr/>
          </p:nvSpPr>
          <p:spPr>
            <a:xfrm>
              <a:off x="685800" y="552450"/>
              <a:ext cx="1676400" cy="28575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 w="9525">
              <a:solidFill>
                <a:schemeClr val="accent1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838200" y="657225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22985" y="640556"/>
              <a:ext cx="16154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spc="105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OPENAI · 2026.07</a:t>
              </a:r>
              <a:endParaRPr lang="zh-CN" sz="1120" b="1" spc="105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69798" y="1698308"/>
            <a:ext cx="4740402" cy="1892617"/>
            <a:chOff x="669798" y="1698308"/>
            <a:chExt cx="4740402" cy="1892617"/>
          </a:xfrm>
        </p:grpSpPr>
        <p:sp>
          <p:nvSpPr>
            <p:cNvPr id="9" name="TextBox 9"/>
            <p:cNvSpPr txBox="1"/>
            <p:nvPr/>
          </p:nvSpPr>
          <p:spPr>
            <a:xfrm>
              <a:off x="669798" y="1698308"/>
              <a:ext cx="184327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GPT-5.6</a:t>
              </a:r>
              <a:endParaRPr lang="zh-CN" sz="31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69798" y="2307908"/>
              <a:ext cx="270353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随雄心扩展的</a:t>
              </a:r>
              <a:endParaRPr lang="zh-CN" sz="31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9798" y="2917508"/>
              <a:ext cx="181302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前沿智能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Freeform 12"/>
            <p:cNvSpPr/>
            <p:nvPr/>
          </p:nvSpPr>
          <p:spPr>
            <a:xfrm>
              <a:off x="685800" y="3581400"/>
              <a:ext cx="4724400" cy="9525"/>
            </a:xfrm>
            <a:custGeom>
              <a:avLst/>
              <a:gdLst/>
              <a:ahLst/>
              <a:cxnLst/>
              <a:rect l="l" t="t" r="r" b="b"/>
              <a:pathLst>
                <a:path w="4724400" h="9525">
                  <a:moveTo>
                    <a:pt x="0" y="0"/>
                  </a:moveTo>
                  <a:lnTo>
                    <a:pt x="47244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676656" y="4168140"/>
            <a:ext cx="5043548" cy="712661"/>
            <a:chOff x="676656" y="4168140"/>
            <a:chExt cx="5043548" cy="712661"/>
          </a:xfrm>
        </p:grpSpPr>
        <p:sp>
          <p:nvSpPr>
            <p:cNvPr id="14" name="TextBox 14"/>
            <p:cNvSpPr txBox="1"/>
            <p:nvPr/>
          </p:nvSpPr>
          <p:spPr>
            <a:xfrm>
              <a:off x="676656" y="4168140"/>
              <a:ext cx="447084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每个 token 更多智能 · 每美元更高性能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78942" y="4616768"/>
              <a:ext cx="50412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7B8CA"/>
                  </a:solidFill>
                  <a:latin typeface="+mn-lt"/>
                  <a:ea typeface="+mn-ea"/>
                  <a:cs typeface="+mn-cs"/>
                </a:rPr>
                <a:t>从 Luna 到 Sol，从 default 到 ultra，能力按任务难度伸缩。</a:t>
              </a:r>
              <a:endParaRPr lang="zh-CN" sz="1350" dirty="0">
                <a:solidFill>
                  <a:srgbClr val="A7B8CA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239000" y="840581"/>
            <a:ext cx="4539564" cy="4477703"/>
            <a:chOff x="7239000" y="840581"/>
            <a:chExt cx="4539564" cy="4477703"/>
          </a:xfrm>
        </p:grpSpPr>
        <p:sp>
          <p:nvSpPr>
            <p:cNvPr id="17" name="Ellipse 17"/>
            <p:cNvSpPr/>
            <p:nvPr/>
          </p:nvSpPr>
          <p:spPr>
            <a:xfrm>
              <a:off x="7239000" y="933450"/>
              <a:ext cx="4152900" cy="4152900"/>
            </a:xfrm>
            <a:prstGeom prst="ellipse">
              <a:avLst/>
            </a:prstGeom>
            <a:gradFill>
              <a:gsLst>
                <a:gs pos="0">
                  <a:schemeClr val="accent1">
                    <a:alpha val="38000"/>
                  </a:schemeClr>
                </a:gs>
                <a:gs pos="100000">
                  <a:schemeClr val="accent3">
                    <a:alpha val="4000"/>
                  </a:schemeClr>
                </a:gs>
              </a:gsLst>
              <a:lin ang="2700000" scaled="1"/>
            </a:gradFill>
            <a:ln w="9525">
              <a:solidFill>
                <a:schemeClr val="accent6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7753350" y="1447800"/>
              <a:ext cx="3124200" cy="31242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1">
                  <a:alpha val="45000"/>
                </a:schemeClr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8248650" y="1943100"/>
              <a:ext cx="2133600" cy="21336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3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8572500" y="2266950"/>
              <a:ext cx="1485900" cy="1485900"/>
            </a:xfrm>
            <a:prstGeom prst="ellipse">
              <a:avLst/>
            </a:prstGeom>
            <a:gradFill>
              <a:gsLst>
                <a:gs pos="0">
                  <a:schemeClr val="accent2">
                    <a:alpha val="34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8877300" y="2571750"/>
              <a:ext cx="876300" cy="876300"/>
            </a:xfrm>
            <a:prstGeom prst="ellipse">
              <a:avLst/>
            </a:prstGeom>
            <a:solidFill>
              <a:schemeClr val="accent5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096400" y="2891790"/>
              <a:ext cx="4381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5.6</a:t>
              </a:r>
              <a:endParaRPr lang="zh-CN" sz="1800" b="1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3" name="Freeform 23"/>
            <p:cNvSpPr/>
            <p:nvPr/>
          </p:nvSpPr>
          <p:spPr>
            <a:xfrm>
              <a:off x="7372350" y="1085850"/>
              <a:ext cx="3886200" cy="3848100"/>
            </a:xfrm>
            <a:custGeom>
              <a:avLst/>
              <a:gdLst/>
              <a:ahLst/>
              <a:cxnLst/>
              <a:rect l="l" t="t" r="r" b="b"/>
              <a:pathLst>
                <a:path w="3886200" h="3848100">
                  <a:moveTo>
                    <a:pt x="1943100" y="361950"/>
                  </a:moveTo>
                  <a:lnTo>
                    <a:pt x="1943100" y="0"/>
                  </a:lnTo>
                  <a:moveTo>
                    <a:pt x="3505200" y="1924050"/>
                  </a:moveTo>
                  <a:lnTo>
                    <a:pt x="3886200" y="1924050"/>
                  </a:lnTo>
                  <a:moveTo>
                    <a:pt x="1943100" y="3486150"/>
                  </a:moveTo>
                  <a:lnTo>
                    <a:pt x="1943100" y="3848100"/>
                  </a:lnTo>
                  <a:moveTo>
                    <a:pt x="381000" y="1924050"/>
                  </a:moveTo>
                  <a:lnTo>
                    <a:pt x="0" y="192405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9248775" y="1019175"/>
              <a:ext cx="133350" cy="1333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11191875" y="294322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9248775" y="486727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7305675" y="2943225"/>
              <a:ext cx="133350" cy="1333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823843" y="840581"/>
              <a:ext cx="9832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A7B8CA"/>
                  </a:solidFill>
                  <a:latin typeface="+mn-lt"/>
                  <a:ea typeface="+mn-ea"/>
                  <a:cs typeface="+mn-cs"/>
                </a:rPr>
                <a:t>INTELLIGENCE</a:t>
              </a:r>
              <a:endParaRPr lang="zh-CN" sz="1120" dirty="0">
                <a:solidFill>
                  <a:srgbClr val="A7B8C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329035" y="2936081"/>
              <a:ext cx="4495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A7B8CA"/>
                  </a:solidFill>
                  <a:latin typeface="+mn-lt"/>
                  <a:ea typeface="+mn-ea"/>
                  <a:cs typeface="+mn-cs"/>
                </a:rPr>
                <a:t>SCALE</a:t>
              </a:r>
              <a:endParaRPr lang="zh-CN" sz="1120" dirty="0">
                <a:solidFill>
                  <a:srgbClr val="A7B8C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911463" y="5098256"/>
              <a:ext cx="8079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A7B8CA"/>
                  </a:solidFill>
                  <a:latin typeface="+mn-lt"/>
                  <a:ea typeface="+mn-ea"/>
                  <a:cs typeface="+mn-cs"/>
                </a:rPr>
                <a:t>EFFICIENCY</a:t>
              </a:r>
              <a:endParaRPr lang="zh-CN" sz="1120" dirty="0">
                <a:solidFill>
                  <a:srgbClr val="A7B8CA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80085" y="6193631"/>
            <a:ext cx="10831830" cy="220028"/>
            <a:chOff x="680085" y="6193631"/>
            <a:chExt cx="10831830" cy="220028"/>
          </a:xfrm>
        </p:grpSpPr>
        <p:sp>
          <p:nvSpPr>
            <p:cNvPr id="32" name="TextBox 32"/>
            <p:cNvSpPr txBox="1"/>
            <p:nvPr/>
          </p:nvSpPr>
          <p:spPr>
            <a:xfrm>
              <a:off x="680085" y="6193631"/>
              <a:ext cx="1541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A7B8CA"/>
                  </a:solidFill>
                  <a:latin typeface="+mn-lt"/>
                  <a:ea typeface="+mn-ea"/>
                  <a:cs typeface="+mn-cs"/>
                </a:rPr>
                <a:t>发布公告解读 · 中文版</a:t>
              </a:r>
              <a:endParaRPr lang="zh-CN" sz="1120" dirty="0">
                <a:solidFill>
                  <a:srgbClr val="A7B8C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995391" y="6193631"/>
              <a:ext cx="516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A7B8CA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01 / 12</a:t>
              </a:r>
              <a:endParaRPr lang="zh-CN" sz="1120" dirty="0">
                <a:solidFill>
                  <a:srgbClr val="A7B8CA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73608" y="597218"/>
            <a:ext cx="6530157" cy="717994"/>
            <a:chOff x="673608" y="597218"/>
            <a:chExt cx="6530157" cy="717994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597218"/>
              <a:ext cx="8254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核心结论</a:t>
              </a:r>
              <a:endParaRPr lang="zh-CN" sz="1350" b="1" spc="12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3608" y="845820"/>
              <a:ext cx="653015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GPT-5.6 把前沿能力变成可伸缩的生产力</a:t>
              </a:r>
              <a:endParaRPr lang="zh-CN" sz="24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85800" y="1504950"/>
            <a:ext cx="6762750" cy="4057650"/>
            <a:chOff x="685800" y="1504950"/>
            <a:chExt cx="6762750" cy="4057650"/>
          </a:xfrm>
        </p:grpSpPr>
        <p:sp>
          <p:nvSpPr>
            <p:cNvPr id="5" name="Freeform 5"/>
            <p:cNvSpPr/>
            <p:nvPr/>
          </p:nvSpPr>
          <p:spPr>
            <a:xfrm>
              <a:off x="685800" y="1504950"/>
              <a:ext cx="6762750" cy="4057650"/>
            </a:xfrm>
            <a:custGeom>
              <a:avLst/>
              <a:gdLst/>
              <a:ahLst/>
              <a:cxnLst/>
              <a:rect l="l" t="t" r="r" b="b"/>
              <a:pathLst>
                <a:path w="6762750" h="4057650">
                  <a:moveTo>
                    <a:pt x="3371850" y="0"/>
                  </a:moveTo>
                  <a:lnTo>
                    <a:pt x="0" y="4057650"/>
                  </a:lnTo>
                  <a:lnTo>
                    <a:pt x="6762750" y="405765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chemeClr val="accent6"/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2895600" y="1504950"/>
              <a:ext cx="2324100" cy="1409700"/>
            </a:xfrm>
            <a:custGeom>
              <a:avLst/>
              <a:gdLst/>
              <a:ahLst/>
              <a:cxnLst/>
              <a:rect l="l" t="t" r="r" b="b"/>
              <a:pathLst>
                <a:path w="2324100" h="1409700">
                  <a:moveTo>
                    <a:pt x="1162050" y="0"/>
                  </a:moveTo>
                  <a:lnTo>
                    <a:pt x="0" y="1409700"/>
                  </a:lnTo>
                  <a:lnTo>
                    <a:pt x="2324100" y="140970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9050">
              <a:solidFill>
                <a:schemeClr val="accent1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1790700" y="2914650"/>
              <a:ext cx="4533900" cy="1333500"/>
            </a:xfrm>
            <a:custGeom>
              <a:avLst/>
              <a:gdLst/>
              <a:ahLst/>
              <a:cxnLst/>
              <a:rect l="l" t="t" r="r" b="b"/>
              <a:pathLst>
                <a:path w="4533900" h="1333500">
                  <a:moveTo>
                    <a:pt x="1104900" y="0"/>
                  </a:moveTo>
                  <a:lnTo>
                    <a:pt x="0" y="1333500"/>
                  </a:lnTo>
                  <a:lnTo>
                    <a:pt x="4533900" y="1333500"/>
                  </a:lnTo>
                  <a:lnTo>
                    <a:pt x="3429000" y="0"/>
                  </a:lnTo>
                  <a:close/>
                </a:path>
              </a:pathLst>
            </a:custGeom>
            <a:solidFill>
              <a:schemeClr val="accent3">
                <a:alpha val="16000"/>
              </a:scheme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685800" y="4248150"/>
              <a:ext cx="6762750" cy="1314450"/>
            </a:xfrm>
            <a:custGeom>
              <a:avLst/>
              <a:gdLst/>
              <a:ahLst/>
              <a:cxnLst/>
              <a:rect l="l" t="t" r="r" b="b"/>
              <a:pathLst>
                <a:path w="6762750" h="1314450">
                  <a:moveTo>
                    <a:pt x="1104900" y="0"/>
                  </a:moveTo>
                  <a:lnTo>
                    <a:pt x="0" y="1314450"/>
                  </a:lnTo>
                  <a:lnTo>
                    <a:pt x="6762750" y="1314450"/>
                  </a:lnTo>
                  <a:lnTo>
                    <a:pt x="5638800" y="0"/>
                  </a:lnTo>
                  <a:close/>
                </a:path>
              </a:pathLst>
            </a:custGeom>
            <a:solidFill>
              <a:schemeClr val="accent2">
                <a:alpha val="11000"/>
              </a:schemeClr>
            </a:solidFill>
            <a:ln w="19050">
              <a:solidFill>
                <a:schemeClr val="accent2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539642" y="20154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更高智能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407512" y="2464118"/>
              <a:ext cx="13002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MORE / TOKEN</a:t>
              </a:r>
              <a:endParaRPr lang="zh-CN" sz="1350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412426" y="336804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更低总成本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354705" y="3816668"/>
              <a:ext cx="14058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MORE / DOLLAR</a:t>
              </a:r>
              <a:endParaRPr lang="zh-CN" sz="1350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285211" y="46824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按需扩展能力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018663" y="5131118"/>
              <a:ext cx="20779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DEFAULT → MAX → ULTRA</a:t>
              </a:r>
              <a:endParaRPr lang="zh-CN" sz="1350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981950" y="1504950"/>
            <a:ext cx="3524250" cy="4057650"/>
            <a:chOff x="7981950" y="1504950"/>
            <a:chExt cx="3524250" cy="4057650"/>
          </a:xfrm>
        </p:grpSpPr>
        <p:sp>
          <p:nvSpPr>
            <p:cNvPr id="16" name="Rectangle 16"/>
            <p:cNvSpPr/>
            <p:nvPr/>
          </p:nvSpPr>
          <p:spPr>
            <a:xfrm>
              <a:off x="7981950" y="1504950"/>
              <a:ext cx="3524250" cy="1066800"/>
            </a:xfrm>
            <a:prstGeom prst="roundRect">
              <a:avLst>
                <a:gd name="adj" fmla="val 7143"/>
              </a:avLst>
            </a:prstGeom>
            <a:solidFill>
              <a:schemeClr val="accent5"/>
            </a:solidFill>
            <a:ln w="9525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241792" y="170211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能力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239506" y="1996440"/>
              <a:ext cx="307147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专业、编码、科研全面跃迁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981950" y="2781300"/>
              <a:ext cx="3524250" cy="1066800"/>
            </a:xfrm>
            <a:prstGeom prst="roundRect">
              <a:avLst>
                <a:gd name="adj" fmla="val 7143"/>
              </a:avLst>
            </a:prstGeom>
            <a:solidFill>
              <a:schemeClr val="accent5"/>
            </a:solidFill>
            <a:ln w="9525">
              <a:solidFill>
                <a:schemeClr val="accent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241792" y="297846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效率</a:t>
              </a:r>
              <a:endParaRPr lang="zh-CN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41792" y="3321368"/>
              <a:ext cx="28856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更少 token、更短时间、更低成本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981950" y="4057650"/>
              <a:ext cx="3524250" cy="1504950"/>
            </a:xfrm>
            <a:prstGeom prst="roundRect">
              <a:avLst>
                <a:gd name="adj" fmla="val 5063"/>
              </a:avLst>
            </a:prstGeom>
            <a:solidFill>
              <a:schemeClr val="accent5"/>
            </a:solidFill>
            <a:ln w="9525">
              <a:solidFill>
                <a:schemeClr val="accent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241792" y="425481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选择</a:t>
              </a:r>
              <a:endPara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239506" y="4568190"/>
              <a:ext cx="23463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三档模型 × 三档推理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41792" y="4978718"/>
              <a:ext cx="189966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rgbClr val="A7B8CA"/>
                  </a:solidFill>
                  <a:latin typeface="+mn-lt"/>
                  <a:ea typeface="+mn-ea"/>
                  <a:cs typeface="+mn-cs"/>
                </a:rPr>
                <a:t>让任务难度、时延与预算</a:t>
              </a:r>
              <a:br>
                <a:rPr lang="zh-CN" sz="1350" dirty="0">
                  <a:solidFill>
                    <a:srgbClr val="A7B8CA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rgbClr val="A7B8CA"/>
                  </a:solidFill>
                  <a:latin typeface="+mn-lt"/>
                  <a:ea typeface="+mn-ea"/>
                  <a:cs typeface="+mn-cs"/>
                </a:rPr>
                <a:t>共同决定使用方式。</a:t>
              </a:r>
              <a:endParaRPr lang="zh-CN" sz="1350" dirty="0">
                <a:solidFill>
                  <a:srgbClr val="A7B8CA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80085" y="6193631"/>
            <a:ext cx="10831830" cy="220028"/>
            <a:chOff x="680085" y="6193631"/>
            <a:chExt cx="10831830" cy="220028"/>
          </a:xfrm>
        </p:grpSpPr>
        <p:sp>
          <p:nvSpPr>
            <p:cNvPr id="27" name="TextBox 27"/>
            <p:cNvSpPr txBox="1"/>
            <p:nvPr/>
          </p:nvSpPr>
          <p:spPr>
            <a:xfrm>
              <a:off x="680085" y="6193631"/>
              <a:ext cx="35093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A7B8CA"/>
                  </a:solidFill>
                  <a:latin typeface="+mn-lt"/>
                  <a:ea typeface="+mn-ea"/>
                  <a:cs typeface="+mn-cs"/>
                </a:rPr>
                <a:t>一句话：把“最强模型”升级为“可配置的能力系统”。</a:t>
              </a:r>
              <a:endParaRPr lang="zh-CN" sz="1120" dirty="0">
                <a:solidFill>
                  <a:srgbClr val="A7B8C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995391" y="6193631"/>
              <a:ext cx="516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A7B8CA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02 / 12</a:t>
              </a:r>
              <a:endParaRPr lang="zh-CN" sz="1120" dirty="0">
                <a:solidFill>
                  <a:srgbClr val="A7B8CA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73608" y="597218"/>
            <a:ext cx="6537838" cy="717994"/>
            <a:chOff x="673608" y="597218"/>
            <a:chExt cx="6537838" cy="717994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597218"/>
              <a:ext cx="8254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能力地图</a:t>
              </a:r>
              <a:endParaRPr lang="zh-CN" sz="1350" b="1" spc="12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3608" y="845820"/>
              <a:ext cx="653783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模型层级决定“底盘”，推理强度决定“油门”</a:t>
              </a:r>
              <a:endParaRPr lang="zh-CN" sz="24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78942" y="1606868"/>
            <a:ext cx="7207758" cy="3212782"/>
            <a:chOff x="678942" y="1606868"/>
            <a:chExt cx="7207758" cy="3212782"/>
          </a:xfrm>
        </p:grpSpPr>
        <p:sp>
          <p:nvSpPr>
            <p:cNvPr id="5" name="TextBox 5"/>
            <p:cNvSpPr txBox="1"/>
            <p:nvPr/>
          </p:nvSpPr>
          <p:spPr>
            <a:xfrm>
              <a:off x="678942" y="1606868"/>
              <a:ext cx="34939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7B8CA"/>
                  </a:solidFill>
                  <a:latin typeface="+mn-lt"/>
                  <a:ea typeface="+mn-ea"/>
                  <a:cs typeface="+mn-cs"/>
                </a:rPr>
                <a:t>模型层级 · 从速度与成本效率走向最高能力</a:t>
              </a:r>
              <a:endParaRPr lang="zh-CN" sz="1350" dirty="0">
                <a:solidFill>
                  <a:srgbClr val="A7B8C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Freeform 6"/>
            <p:cNvSpPr/>
            <p:nvPr/>
          </p:nvSpPr>
          <p:spPr>
            <a:xfrm>
              <a:off x="1333500" y="2343150"/>
              <a:ext cx="6191250" cy="9525"/>
            </a:xfrm>
            <a:custGeom>
              <a:avLst/>
              <a:gdLst/>
              <a:ahLst/>
              <a:cxnLst/>
              <a:rect l="l" t="t" r="r" b="b"/>
              <a:pathLst>
                <a:path w="6191250" h="9525">
                  <a:moveTo>
                    <a:pt x="0" y="0"/>
                  </a:moveTo>
                  <a:lnTo>
                    <a:pt x="6191250" y="0"/>
                  </a:lnTo>
                </a:path>
              </a:pathLst>
            </a:custGeom>
            <a:noFill/>
            <a:ln w="76200">
              <a:solidFill>
                <a:schemeClr val="accent6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1333500" y="2343150"/>
              <a:ext cx="6191250" cy="9525"/>
            </a:xfrm>
            <a:custGeom>
              <a:avLst/>
              <a:gdLst/>
              <a:ahLst/>
              <a:cxnLst/>
              <a:rect l="l" t="t" r="r" b="b"/>
              <a:pathLst>
                <a:path w="6191250" h="9525">
                  <a:moveTo>
                    <a:pt x="0" y="0"/>
                  </a:moveTo>
                  <a:lnTo>
                    <a:pt x="619125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1466850" y="2133600"/>
              <a:ext cx="419100" cy="419100"/>
            </a:xfrm>
            <a:prstGeom prst="ellipse">
              <a:avLst/>
            </a:prstGeom>
            <a:solidFill>
              <a:schemeClr val="accent5"/>
            </a:solidFill>
            <a:ln w="28575">
              <a:solidFill>
                <a:schemeClr val="accent2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4219575" y="2133600"/>
              <a:ext cx="419100" cy="419100"/>
            </a:xfrm>
            <a:prstGeom prst="ellipse">
              <a:avLst/>
            </a:prstGeom>
            <a:solidFill>
              <a:schemeClr val="accent5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6972300" y="2133600"/>
              <a:ext cx="419100" cy="419100"/>
            </a:xfrm>
            <a:prstGeom prst="ellipse">
              <a:avLst/>
            </a:prstGeom>
            <a:solidFill>
              <a:schemeClr val="accent5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614095" y="2264092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L</a:t>
              </a:r>
              <a:endPara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366820" y="2264092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</a:t>
              </a:r>
              <a:endParaRPr lang="zh-CN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19545" y="2264092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971550" y="2819400"/>
              <a:ext cx="2114550" cy="2000250"/>
            </a:xfrm>
            <a:prstGeom prst="roundRect">
              <a:avLst>
                <a:gd name="adj" fmla="val 381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91006" y="3006090"/>
              <a:ext cx="58595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Luna</a:t>
              </a:r>
              <a:endParaRPr lang="zh-CN" sz="18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93292" y="3378518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最快 · 价格最低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93292" y="3797618"/>
              <a:ext cx="155676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rgbClr val="A7B8CA"/>
                  </a:solidFill>
                  <a:latin typeface="+mn-lt"/>
                  <a:ea typeface="+mn-ea"/>
                  <a:cs typeface="+mn-cs"/>
                </a:rPr>
                <a:t>适合高频、低时延、</a:t>
              </a:r>
              <a:br>
                <a:rPr lang="zh-CN" sz="1350" dirty="0">
                  <a:solidFill>
                    <a:srgbClr val="A7B8CA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rgbClr val="A7B8CA"/>
                  </a:solidFill>
                  <a:latin typeface="+mn-lt"/>
                  <a:ea typeface="+mn-ea"/>
                  <a:cs typeface="+mn-cs"/>
                </a:rPr>
                <a:t>规模化日常任务</a:t>
              </a:r>
              <a:endParaRPr lang="zh-CN" sz="1350" dirty="0">
                <a:solidFill>
                  <a:srgbClr val="A7B8C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371850" y="2819400"/>
              <a:ext cx="2114550" cy="2000250"/>
            </a:xfrm>
            <a:prstGeom prst="roundRect">
              <a:avLst>
                <a:gd name="adj" fmla="val 381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591306" y="3006090"/>
              <a:ext cx="7258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Terra</a:t>
              </a:r>
              <a:endParaRPr lang="zh-CN" sz="180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593592" y="3378518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均衡 · 日常主力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93592" y="3797618"/>
              <a:ext cx="155676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rgbClr val="A7B8CA"/>
                  </a:solidFill>
                  <a:latin typeface="+mn-lt"/>
                  <a:ea typeface="+mn-ea"/>
                  <a:cs typeface="+mn-cs"/>
                </a:rPr>
                <a:t>成本更低，性能可与</a:t>
              </a:r>
              <a:br>
                <a:rPr lang="zh-CN" sz="1350" dirty="0">
                  <a:solidFill>
                    <a:srgbClr val="A7B8CA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rgbClr val="A7B8CA"/>
                  </a:solidFill>
                  <a:latin typeface="+mn-lt"/>
                  <a:ea typeface="+mn-ea"/>
                  <a:cs typeface="+mn-cs"/>
                </a:rPr>
                <a:t>GPT-5.5 竞争</a:t>
              </a:r>
              <a:endParaRPr lang="zh-CN" sz="1350" dirty="0">
                <a:solidFill>
                  <a:srgbClr val="A7B8C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772150" y="2819400"/>
              <a:ext cx="2114550" cy="2000250"/>
            </a:xfrm>
            <a:prstGeom prst="roundRect">
              <a:avLst>
                <a:gd name="adj" fmla="val 381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991606" y="3006090"/>
              <a:ext cx="3812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Sol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993892" y="3378518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旗舰 · 最高质量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993892" y="3797618"/>
              <a:ext cx="155676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rgbClr val="A7B8CA"/>
                  </a:solidFill>
                  <a:latin typeface="+mn-lt"/>
                  <a:ea typeface="+mn-ea"/>
                  <a:cs typeface="+mn-cs"/>
                </a:rPr>
                <a:t>复杂专业工作、编码</a:t>
              </a:r>
              <a:br>
                <a:rPr lang="zh-CN" sz="1350" dirty="0">
                  <a:solidFill>
                    <a:srgbClr val="A7B8CA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rgbClr val="A7B8CA"/>
                  </a:solidFill>
                  <a:latin typeface="+mn-lt"/>
                  <a:ea typeface="+mn-ea"/>
                  <a:cs typeface="+mn-cs"/>
                </a:rPr>
                <a:t>与长时智能体任务</a:t>
              </a:r>
              <a:endParaRPr lang="zh-CN" sz="1350" dirty="0">
                <a:solidFill>
                  <a:srgbClr val="A7B8CA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584692" y="1606868"/>
            <a:ext cx="2921508" cy="3212782"/>
            <a:chOff x="8584692" y="1606868"/>
            <a:chExt cx="2921508" cy="3212782"/>
          </a:xfrm>
        </p:grpSpPr>
        <p:sp>
          <p:nvSpPr>
            <p:cNvPr id="27" name="TextBox 27"/>
            <p:cNvSpPr txBox="1"/>
            <p:nvPr/>
          </p:nvSpPr>
          <p:spPr>
            <a:xfrm>
              <a:off x="8584692" y="1606868"/>
              <a:ext cx="24035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7B8CA"/>
                  </a:solidFill>
                  <a:latin typeface="+mn-lt"/>
                  <a:ea typeface="+mn-ea"/>
                  <a:cs typeface="+mn-cs"/>
                </a:rPr>
                <a:t>推理强度 · 同一模型向上伸缩</a:t>
              </a:r>
              <a:endParaRPr lang="zh-CN" sz="1350" dirty="0">
                <a:solidFill>
                  <a:srgbClr val="A7B8C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8591550" y="4038600"/>
              <a:ext cx="2914650" cy="781050"/>
            </a:xfrm>
            <a:prstGeom prst="roundRect">
              <a:avLst>
                <a:gd name="adj" fmla="val 9756"/>
              </a:avLst>
            </a:prstGeom>
            <a:solidFill>
              <a:schemeClr val="accent5"/>
            </a:solidFill>
            <a:ln w="9525">
              <a:solidFill>
                <a:schemeClr val="accent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849106" y="4187190"/>
              <a:ext cx="9342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default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852535" y="450770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A7B8CA"/>
                  </a:solidFill>
                  <a:latin typeface="+mn-lt"/>
                  <a:ea typeface="+mn-ea"/>
                  <a:cs typeface="+mn-cs"/>
                </a:rPr>
                <a:t>速度与质量的默认平衡</a:t>
              </a:r>
              <a:endParaRPr lang="zh-CN" sz="1120" dirty="0">
                <a:solidFill>
                  <a:srgbClr val="A7B8C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896350" y="3028950"/>
              <a:ext cx="2609850" cy="781050"/>
            </a:xfrm>
            <a:prstGeom prst="roundRect">
              <a:avLst>
                <a:gd name="adj" fmla="val 9756"/>
              </a:avLst>
            </a:prstGeom>
            <a:solidFill>
              <a:schemeClr val="accent5"/>
            </a:solidFill>
            <a:ln w="9525">
              <a:solidFill>
                <a:schemeClr val="accent3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153906" y="3177540"/>
              <a:ext cx="48898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max</a:t>
              </a:r>
              <a:endParaRPr lang="zh-CN" sz="180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157335" y="349805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A7B8CA"/>
                  </a:solidFill>
                  <a:latin typeface="+mn-lt"/>
                  <a:ea typeface="+mn-ea"/>
                  <a:cs typeface="+mn-cs"/>
                </a:rPr>
                <a:t>更高准确性与韧性</a:t>
              </a:r>
              <a:endParaRPr lang="zh-CN" sz="1120" dirty="0">
                <a:solidFill>
                  <a:srgbClr val="A7B8C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9201150" y="2019300"/>
              <a:ext cx="2305050" cy="781050"/>
            </a:xfrm>
            <a:prstGeom prst="roundRect">
              <a:avLst>
                <a:gd name="adj" fmla="val 9756"/>
              </a:avLst>
            </a:prstGeom>
            <a:solidFill>
              <a:schemeClr val="accent5"/>
            </a:solidFill>
            <a:ln w="19050">
              <a:solidFill>
                <a:schemeClr val="accent2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458706" y="2167890"/>
              <a:ext cx="6543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ultra</a:t>
              </a:r>
              <a:endParaRPr lang="zh-CN" sz="18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462135" y="248840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A7B8CA"/>
                  </a:solidFill>
                  <a:latin typeface="+mn-lt"/>
                  <a:ea typeface="+mn-ea"/>
                  <a:cs typeface="+mn-cs"/>
                </a:rPr>
                <a:t>多智能体并行的最高设置</a:t>
              </a:r>
              <a:endParaRPr lang="zh-CN" sz="1120" dirty="0">
                <a:solidFill>
                  <a:srgbClr val="A7B8C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Freeform 37"/>
            <p:cNvSpPr/>
            <p:nvPr/>
          </p:nvSpPr>
          <p:spPr>
            <a:xfrm>
              <a:off x="11163300" y="2876550"/>
              <a:ext cx="190500" cy="1123950"/>
            </a:xfrm>
            <a:custGeom>
              <a:avLst/>
              <a:gdLst/>
              <a:ahLst/>
              <a:cxnLst/>
              <a:rect l="l" t="t" r="r" b="b"/>
              <a:pathLst>
                <a:path w="190500" h="1123950">
                  <a:moveTo>
                    <a:pt x="95250" y="1123950"/>
                  </a:moveTo>
                  <a:lnTo>
                    <a:pt x="95250" y="38100"/>
                  </a:lnTo>
                  <a:moveTo>
                    <a:pt x="95250" y="0"/>
                  </a:moveTo>
                  <a:lnTo>
                    <a:pt x="0" y="133350"/>
                  </a:lnTo>
                  <a:moveTo>
                    <a:pt x="95250" y="0"/>
                  </a:moveTo>
                  <a:lnTo>
                    <a:pt x="190500" y="13335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680085" y="6193631"/>
            <a:ext cx="10831830" cy="220028"/>
            <a:chOff x="680085" y="6193631"/>
            <a:chExt cx="10831830" cy="220028"/>
          </a:xfrm>
        </p:grpSpPr>
        <p:sp>
          <p:nvSpPr>
            <p:cNvPr id="39" name="TextBox 39"/>
            <p:cNvSpPr txBox="1"/>
            <p:nvPr/>
          </p:nvSpPr>
          <p:spPr>
            <a:xfrm>
              <a:off x="680085" y="6193631"/>
              <a:ext cx="46854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A7B8CA"/>
                  </a:solidFill>
                  <a:latin typeface="+mn-lt"/>
                  <a:ea typeface="+mn-ea"/>
                  <a:cs typeface="+mn-cs"/>
                </a:rPr>
                <a:t>选择顺序：先匹配任务与模型层级，再按风险和复杂度提高推理强度。</a:t>
              </a:r>
              <a:endParaRPr lang="zh-CN" sz="1120" dirty="0">
                <a:solidFill>
                  <a:srgbClr val="A7B8C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995391" y="6193631"/>
              <a:ext cx="516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A7B8CA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03 / 12</a:t>
              </a:r>
              <a:endParaRPr lang="zh-CN" sz="1120" dirty="0">
                <a:solidFill>
                  <a:srgbClr val="A7B8CA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73608" y="597218"/>
            <a:ext cx="6809232" cy="717994"/>
            <a:chOff x="673608" y="597218"/>
            <a:chExt cx="6809232" cy="717994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597218"/>
              <a:ext cx="12394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专业工作效率</a:t>
              </a:r>
              <a:endParaRPr lang="zh-CN" sz="1350" b="1" spc="12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3608" y="845820"/>
              <a:ext cx="680923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更高质量，不再意味着同比例增加时间与成本</a:t>
              </a:r>
              <a:endParaRPr lang="zh-CN" sz="24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85800" y="1504950"/>
            <a:ext cx="7239000" cy="4000500"/>
            <a:chOff x="685800" y="1504950"/>
            <a:chExt cx="7239000" cy="4000500"/>
          </a:xfrm>
        </p:grpSpPr>
        <p:sp>
          <p:nvSpPr>
            <p:cNvPr id="5" name="Rectangle 5"/>
            <p:cNvSpPr/>
            <p:nvPr/>
          </p:nvSpPr>
          <p:spPr>
            <a:xfrm>
              <a:off x="685800" y="1504950"/>
              <a:ext cx="7239000" cy="4000500"/>
            </a:xfrm>
            <a:prstGeom prst="roundRect">
              <a:avLst>
                <a:gd name="adj" fmla="val 1905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81456" y="1729740"/>
              <a:ext cx="23488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Agents' Last Exam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84885" y="2050256"/>
              <a:ext cx="19036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A7B8CA"/>
                  </a:solidFill>
                  <a:latin typeface="+mn-lt"/>
                  <a:ea typeface="+mn-ea"/>
                  <a:cs typeface="+mn-cs"/>
                </a:rPr>
                <a:t>55 个领域 · 长时专业工作流</a:t>
              </a:r>
              <a:endParaRPr lang="zh-CN" sz="1120" dirty="0">
                <a:solidFill>
                  <a:srgbClr val="A7B8CA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687023" y="2533650"/>
              <a:ext cx="6568421" cy="2460784"/>
              <a:chOff x="687023" y="2533650"/>
              <a:chExt cx="6568421" cy="2460784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2038350" y="2533650"/>
                <a:ext cx="5029200" cy="2076450"/>
              </a:xfrm>
              <a:custGeom>
                <a:avLst/>
                <a:gdLst/>
                <a:ahLst/>
                <a:cxnLst/>
                <a:rect l="l" t="t" r="r" b="b"/>
                <a:pathLst>
                  <a:path w="5029200" h="2076450">
                    <a:moveTo>
                      <a:pt x="0" y="0"/>
                    </a:moveTo>
                    <a:lnTo>
                      <a:pt x="0" y="2076450"/>
                    </a:lnTo>
                    <a:moveTo>
                      <a:pt x="1676400" y="0"/>
                    </a:moveTo>
                    <a:lnTo>
                      <a:pt x="1676400" y="2076450"/>
                    </a:lnTo>
                    <a:moveTo>
                      <a:pt x="3352800" y="0"/>
                    </a:moveTo>
                    <a:lnTo>
                      <a:pt x="3352800" y="2076450"/>
                    </a:lnTo>
                    <a:moveTo>
                      <a:pt x="5029200" y="0"/>
                    </a:moveTo>
                    <a:lnTo>
                      <a:pt x="5029200" y="207645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991172" y="4774406"/>
                <a:ext cx="9435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rgbClr val="A7B8CA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0</a:t>
                </a:r>
                <a:endParaRPr lang="zh-CN" sz="1120" dirty="0">
                  <a:solidFill>
                    <a:srgbClr val="A7B8CA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3626109" y="4774406"/>
                <a:ext cx="17728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rgbClr val="A7B8CA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20</a:t>
                </a:r>
                <a:endParaRPr lang="zh-CN" sz="1120" dirty="0">
                  <a:solidFill>
                    <a:srgbClr val="A7B8CA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5302509" y="4774406"/>
                <a:ext cx="17728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rgbClr val="A7B8CA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40</a:t>
                </a:r>
                <a:endParaRPr lang="zh-CN" sz="1120" dirty="0">
                  <a:solidFill>
                    <a:srgbClr val="A7B8CA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6978909" y="4774406"/>
                <a:ext cx="17728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rgbClr val="A7B8CA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60</a:t>
                </a:r>
                <a:endParaRPr lang="zh-CN" sz="1120" dirty="0">
                  <a:solidFill>
                    <a:srgbClr val="A7B8CA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832390" y="3216592"/>
                <a:ext cx="106041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GPT-5.6 Sol</a:t>
                </a:r>
                <a:endPara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687023" y="3759518"/>
                <a:ext cx="124388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Claude Fable 5</a:t>
                </a:r>
                <a:endPara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5" name="Rectangle 15"/>
              <p:cNvSpPr/>
              <p:nvPr/>
            </p:nvSpPr>
            <p:spPr>
              <a:xfrm>
                <a:off x="2038350" y="3089910"/>
                <a:ext cx="4492942" cy="419100"/>
              </a:xfrm>
              <a:prstGeom prst="roundRect">
                <a:avLst>
                  <a:gd name="adj" fmla="val 9091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2038350" y="3634740"/>
                <a:ext cx="3394710" cy="419100"/>
              </a:xfrm>
              <a:prstGeom prst="roundRect">
                <a:avLst>
                  <a:gd name="adj" fmla="val 9091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6677406" y="3168015"/>
                <a:ext cx="57803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53.6</a:t>
                </a:r>
                <a:endParaRPr lang="zh-CN" sz="180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5572506" y="3710940"/>
                <a:ext cx="57803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40.5</a:t>
                </a:r>
                <a:endParaRPr lang="zh-CN" sz="180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984885" y="5136356"/>
              <a:ext cx="31299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A7B8CA"/>
                  </a:solidFill>
                  <a:latin typeface="+mn-lt"/>
                  <a:ea typeface="+mn-ea"/>
                  <a:cs typeface="+mn-cs"/>
                </a:rPr>
                <a:t>Sol 领先 13.1 分；中等推理仍领先 11.4 分。</a:t>
              </a:r>
              <a:endParaRPr lang="zh-CN" sz="1120" dirty="0">
                <a:solidFill>
                  <a:srgbClr val="A7B8CA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305800" y="1504950"/>
            <a:ext cx="3200400" cy="4000500"/>
            <a:chOff x="8305800" y="1504950"/>
            <a:chExt cx="3200400" cy="4000500"/>
          </a:xfrm>
        </p:grpSpPr>
        <p:sp>
          <p:nvSpPr>
            <p:cNvPr id="22" name="Rectangle 22"/>
            <p:cNvSpPr/>
            <p:nvPr/>
          </p:nvSpPr>
          <p:spPr>
            <a:xfrm>
              <a:off x="8305800" y="1504950"/>
              <a:ext cx="3200400" cy="1104900"/>
            </a:xfrm>
            <a:prstGeom prst="roundRect">
              <a:avLst>
                <a:gd name="adj" fmla="val 6897"/>
              </a:avLst>
            </a:prstGeom>
            <a:solidFill>
              <a:schemeClr val="accent5"/>
            </a:solidFill>
            <a:ln w="9525">
              <a:solidFill>
                <a:schemeClr val="accent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565642" y="1702118"/>
              <a:ext cx="22486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7B8CA"/>
                  </a:solidFill>
                  <a:latin typeface="+mn-lt"/>
                  <a:ea typeface="+mn-ea"/>
                  <a:cs typeface="+mn-cs"/>
                </a:rPr>
                <a:t>同场对比 · AA Intelligence</a:t>
              </a:r>
              <a:endParaRPr lang="zh-CN" sz="1350" dirty="0">
                <a:solidFill>
                  <a:srgbClr val="A7B8C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556498" y="1984058"/>
              <a:ext cx="110061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−61%</a:t>
              </a:r>
              <a:endParaRPr lang="zh-CN" sz="3150" b="1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070592" y="21783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用时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305800" y="2800350"/>
              <a:ext cx="3200400" cy="1104900"/>
            </a:xfrm>
            <a:prstGeom prst="roundRect">
              <a:avLst>
                <a:gd name="adj" fmla="val 6897"/>
              </a:avLst>
            </a:prstGeom>
            <a:solidFill>
              <a:schemeClr val="accent5"/>
            </a:solidFill>
            <a:ln w="9525">
              <a:solidFill>
                <a:schemeClr val="accent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565642" y="29975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7B8CA"/>
                  </a:solidFill>
                  <a:latin typeface="+mn-lt"/>
                  <a:ea typeface="+mn-ea"/>
                  <a:cs typeface="+mn-cs"/>
                </a:rPr>
                <a:t>预估成本</a:t>
              </a:r>
              <a:endParaRPr lang="zh-CN" sz="1350" dirty="0">
                <a:solidFill>
                  <a:srgbClr val="A7B8C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556498" y="3279458"/>
              <a:ext cx="114514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≈ 1/2</a:t>
              </a:r>
              <a:endParaRPr lang="zh-CN" sz="3150" b="1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8305800" y="4095750"/>
              <a:ext cx="3200400" cy="1409700"/>
            </a:xfrm>
            <a:prstGeom prst="roundRect">
              <a:avLst>
                <a:gd name="adj" fmla="val 5405"/>
              </a:avLst>
            </a:prstGeom>
            <a:solidFill>
              <a:schemeClr val="accent5"/>
            </a:solidFill>
            <a:ln w="9525">
              <a:solidFill>
                <a:schemeClr val="accent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565642" y="42929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7B8CA"/>
                  </a:solidFill>
                  <a:latin typeface="+mn-lt"/>
                  <a:ea typeface="+mn-ea"/>
                  <a:cs typeface="+mn-cs"/>
                </a:rPr>
                <a:t>小模型的普惠效率</a:t>
              </a:r>
              <a:endParaRPr lang="zh-CN" sz="1350" dirty="0">
                <a:solidFill>
                  <a:srgbClr val="A7B8C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556498" y="4574858"/>
              <a:ext cx="139003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≈ 1/16</a:t>
              </a:r>
              <a:endParaRPr lang="zh-CN" sz="3150" b="1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565642" y="5093018"/>
              <a:ext cx="17435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Terra / Luna 的成本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80085" y="6193631"/>
            <a:ext cx="10831830" cy="220028"/>
            <a:chOff x="680085" y="6193631"/>
            <a:chExt cx="10831830" cy="220028"/>
          </a:xfrm>
        </p:grpSpPr>
        <p:sp>
          <p:nvSpPr>
            <p:cNvPr id="34" name="TextBox 34"/>
            <p:cNvSpPr txBox="1"/>
            <p:nvPr/>
          </p:nvSpPr>
          <p:spPr>
            <a:xfrm>
              <a:off x="680085" y="6193631"/>
              <a:ext cx="41890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A7B8CA"/>
                  </a:solidFill>
                  <a:latin typeface="+mn-lt"/>
                  <a:ea typeface="+mn-ea"/>
                  <a:cs typeface="+mn-cs"/>
                </a:rPr>
                <a:t>来源：OpenAI GPT-5.6 发布公告；成本为公告中的预估值。</a:t>
              </a:r>
              <a:endParaRPr lang="zh-CN" sz="1120" dirty="0">
                <a:solidFill>
                  <a:srgbClr val="A7B8C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995391" y="6193631"/>
              <a:ext cx="516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A7B8CA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04 / 12</a:t>
              </a:r>
              <a:endParaRPr lang="zh-CN" sz="1120" dirty="0">
                <a:solidFill>
                  <a:srgbClr val="A7B8CA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73608" y="597218"/>
            <a:ext cx="6809232" cy="717994"/>
            <a:chOff x="673608" y="597218"/>
            <a:chExt cx="6809232" cy="717994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597218"/>
              <a:ext cx="12394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编码与智能体</a:t>
              </a:r>
              <a:endParaRPr lang="zh-CN" sz="1350" b="1" spc="12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3608" y="845820"/>
              <a:ext cx="680923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家族级领先，程序化工具调用让长链任务更省</a:t>
              </a:r>
              <a:endParaRPr lang="zh-CN" sz="24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85800" y="1504950"/>
            <a:ext cx="7143750" cy="3429000"/>
            <a:chOff x="685800" y="1504950"/>
            <a:chExt cx="7143750" cy="3429000"/>
          </a:xfrm>
        </p:grpSpPr>
        <p:sp>
          <p:nvSpPr>
            <p:cNvPr id="5" name="Rectangle 5"/>
            <p:cNvSpPr/>
            <p:nvPr/>
          </p:nvSpPr>
          <p:spPr>
            <a:xfrm>
              <a:off x="685800" y="1504950"/>
              <a:ext cx="7143750" cy="3429000"/>
            </a:xfrm>
            <a:prstGeom prst="roundRect">
              <a:avLst>
                <a:gd name="adj" fmla="val 2222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81456" y="1729740"/>
              <a:ext cx="33235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AA Coding Agent Index v1.1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1181100" y="2197418"/>
              <a:ext cx="6172200" cy="2550033"/>
              <a:chOff x="1181100" y="2197418"/>
              <a:chExt cx="6172200" cy="2550033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181100" y="2457450"/>
                <a:ext cx="6172200" cy="1828800"/>
              </a:xfrm>
              <a:custGeom>
                <a:avLst/>
                <a:gdLst/>
                <a:ahLst/>
                <a:cxnLst/>
                <a:rect l="l" t="t" r="r" b="b"/>
                <a:pathLst>
                  <a:path w="6172200" h="1828800">
                    <a:moveTo>
                      <a:pt x="0" y="0"/>
                    </a:moveTo>
                    <a:lnTo>
                      <a:pt x="6172200" y="0"/>
                    </a:lnTo>
                    <a:moveTo>
                      <a:pt x="0" y="457200"/>
                    </a:moveTo>
                    <a:lnTo>
                      <a:pt x="6172200" y="457200"/>
                    </a:lnTo>
                    <a:moveTo>
                      <a:pt x="0" y="914400"/>
                    </a:moveTo>
                    <a:lnTo>
                      <a:pt x="6172200" y="914400"/>
                    </a:lnTo>
                    <a:moveTo>
                      <a:pt x="0" y="1371600"/>
                    </a:moveTo>
                    <a:lnTo>
                      <a:pt x="6172200" y="1371600"/>
                    </a:lnTo>
                    <a:moveTo>
                      <a:pt x="0" y="1828800"/>
                    </a:moveTo>
                    <a:lnTo>
                      <a:pt x="6172200" y="182880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1840230" y="2457450"/>
                <a:ext cx="990600" cy="1828800"/>
              </a:xfrm>
              <a:prstGeom prst="roundRect">
                <a:avLst>
                  <a:gd name="adj" fmla="val 3846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3128010" y="2516505"/>
                <a:ext cx="990600" cy="1769745"/>
              </a:xfrm>
              <a:prstGeom prst="roundRect">
                <a:avLst>
                  <a:gd name="adj" fmla="val 3846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4415790" y="2539365"/>
                <a:ext cx="990600" cy="1746885"/>
              </a:xfrm>
              <a:prstGeom prst="roundRect">
                <a:avLst>
                  <a:gd name="adj" fmla="val 3846"/>
                </a:avLst>
              </a:prstGeom>
              <a:solidFill>
                <a:srgbClr val="A7B8CA"/>
              </a:solidFill>
              <a:ln>
                <a:noFill/>
              </a:ln>
            </p:spPr>
          </p:sp>
          <p:sp>
            <p:nvSpPr>
              <p:cNvPr id="11" name="Rectangle 11"/>
              <p:cNvSpPr/>
              <p:nvPr/>
            </p:nvSpPr>
            <p:spPr>
              <a:xfrm>
                <a:off x="5703570" y="2581275"/>
                <a:ext cx="990600" cy="1704975"/>
              </a:xfrm>
              <a:prstGeom prst="roundRect">
                <a:avLst>
                  <a:gd name="adj" fmla="val 3846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2118766" y="2197418"/>
                <a:ext cx="43352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80.0</a:t>
                </a:r>
                <a:endParaRPr lang="zh-CN" sz="135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3406546" y="2254568"/>
                <a:ext cx="43352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77.4</a:t>
                </a:r>
                <a:endParaRPr lang="zh-CN" sz="135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694326" y="2283142"/>
                <a:ext cx="43352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76.4</a:t>
                </a:r>
                <a:endParaRPr lang="zh-CN" sz="135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5982106" y="2321242"/>
                <a:ext cx="43352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74.6</a:t>
                </a:r>
                <a:endParaRPr lang="zh-CN" sz="135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2199056" y="4483418"/>
                <a:ext cx="27294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Sol</a:t>
                </a:r>
                <a:endPara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3363735" y="4483418"/>
                <a:ext cx="51915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Terra</a:t>
                </a:r>
                <a:endPara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534586" y="4483418"/>
                <a:ext cx="75300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GPT-5.5</a:t>
                </a:r>
                <a:endPara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5989272" y="4483418"/>
                <a:ext cx="41919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Luna</a:t>
                </a:r>
                <a:endPara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9" name="Group 39"/>
          <p:cNvGrpSpPr/>
          <p:nvPr/>
        </p:nvGrpSpPr>
        <p:grpSpPr>
          <a:xfrm>
            <a:off x="8210550" y="1504950"/>
            <a:ext cx="3295650" cy="3429000"/>
            <a:chOff x="8210550" y="1504950"/>
            <a:chExt cx="3295650" cy="3429000"/>
          </a:xfrm>
        </p:grpSpPr>
        <p:sp>
          <p:nvSpPr>
            <p:cNvPr id="22" name="Rectangle 22"/>
            <p:cNvSpPr/>
            <p:nvPr/>
          </p:nvSpPr>
          <p:spPr>
            <a:xfrm>
              <a:off x="8210550" y="1504950"/>
              <a:ext cx="3295650" cy="3429000"/>
            </a:xfrm>
            <a:prstGeom prst="roundRect">
              <a:avLst>
                <a:gd name="adj" fmla="val 2312"/>
              </a:avLst>
            </a:prstGeom>
            <a:solidFill>
              <a:schemeClr val="accent5"/>
            </a:solidFill>
            <a:ln w="9525">
              <a:solidFill>
                <a:schemeClr val="accent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468106" y="172974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程序化工具调用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470392" y="208311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7B8CA"/>
                  </a:solidFill>
                  <a:latin typeface="+mn-lt"/>
                  <a:ea typeface="+mn-ea"/>
                  <a:cs typeface="+mn-cs"/>
                </a:rPr>
                <a:t>模型在内存中编写并运行轻量程序</a:t>
              </a:r>
              <a:endParaRPr lang="zh-CN" sz="1350" dirty="0">
                <a:solidFill>
                  <a:srgbClr val="A7B8C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Ellipse 25"/>
            <p:cNvSpPr/>
            <p:nvPr/>
          </p:nvSpPr>
          <p:spPr>
            <a:xfrm>
              <a:off x="8515350" y="2609850"/>
              <a:ext cx="381000" cy="3810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9658350" y="2609850"/>
              <a:ext cx="381000" cy="3810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10801350" y="2609850"/>
              <a:ext cx="381000" cy="3810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8915400" y="2800350"/>
              <a:ext cx="1866900" cy="9525"/>
            </a:xfrm>
            <a:custGeom>
              <a:avLst/>
              <a:gdLst/>
              <a:ahLst/>
              <a:cxnLst/>
              <a:rect l="l" t="t" r="r" b="b"/>
              <a:pathLst>
                <a:path w="1866900" h="9525">
                  <a:moveTo>
                    <a:pt x="0" y="0"/>
                  </a:moveTo>
                  <a:lnTo>
                    <a:pt x="723900" y="0"/>
                  </a:lnTo>
                  <a:moveTo>
                    <a:pt x="1143000" y="0"/>
                  </a:moveTo>
                  <a:lnTo>
                    <a:pt x="1866900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617209" y="27360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01</a:t>
              </a:r>
              <a:endParaRPr lang="zh-CN" sz="1120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760209" y="27360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02</a:t>
              </a:r>
              <a:endParaRPr lang="zh-CN" sz="1120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903209" y="27360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03</a:t>
              </a:r>
              <a:endParaRPr lang="zh-CN" sz="1120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98586" y="30789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协调工具</a:t>
              </a:r>
              <a:endPara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390812" y="30789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处理中间结果</a:t>
              </a:r>
              <a:endPara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609199" y="307895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选择下一步</a:t>
              </a:r>
              <a:endPara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Freeform 35"/>
            <p:cNvSpPr/>
            <p:nvPr/>
          </p:nvSpPr>
          <p:spPr>
            <a:xfrm>
              <a:off x="8477250" y="3619500"/>
              <a:ext cx="2762250" cy="9525"/>
            </a:xfrm>
            <a:custGeom>
              <a:avLst/>
              <a:gdLst/>
              <a:ahLst/>
              <a:cxnLst/>
              <a:rect l="l" t="t" r="r" b="b"/>
              <a:pathLst>
                <a:path w="2762250" h="9525">
                  <a:moveTo>
                    <a:pt x="0" y="0"/>
                  </a:moveTo>
                  <a:lnTo>
                    <a:pt x="27622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470392" y="38738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结果</a:t>
              </a:r>
              <a:endParaRPr lang="zh-CN" sz="135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470392" y="4216718"/>
              <a:ext cx="29428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更少 token · 更少往返 · 更少指导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471535" y="4545806"/>
              <a:ext cx="27062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A7B8CA"/>
                  </a:solidFill>
                  <a:latin typeface="+mn-lt"/>
                  <a:ea typeface="+mn-ea"/>
                  <a:cs typeface="+mn-cs"/>
                </a:rPr>
                <a:t>兼容 ZDR；多智能体功能首发为 beta。</a:t>
              </a:r>
              <a:endParaRPr lang="zh-CN" sz="1120" dirty="0">
                <a:solidFill>
                  <a:srgbClr val="A7B8CA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85800" y="5162550"/>
            <a:ext cx="10820400" cy="704850"/>
            <a:chOff x="685800" y="5162550"/>
            <a:chExt cx="10820400" cy="704850"/>
          </a:xfrm>
        </p:grpSpPr>
        <p:sp>
          <p:nvSpPr>
            <p:cNvPr id="40" name="Rectangle 40"/>
            <p:cNvSpPr/>
            <p:nvPr/>
          </p:nvSpPr>
          <p:spPr>
            <a:xfrm>
              <a:off x="685800" y="5162550"/>
              <a:ext cx="10820400" cy="704850"/>
            </a:xfrm>
            <a:prstGeom prst="roundRect">
              <a:avLst>
                <a:gd name="adj" fmla="val 10811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83742" y="5454968"/>
              <a:ext cx="17277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7B8CA"/>
                  </a:solidFill>
                  <a:latin typeface="+mn-lt"/>
                  <a:ea typeface="+mn-ea"/>
                  <a:cs typeface="+mn-cs"/>
                </a:rPr>
                <a:t>Terminal-Bench 2.1</a:t>
              </a:r>
              <a:endParaRPr lang="zh-CN" sz="1350" dirty="0">
                <a:solidFill>
                  <a:srgbClr val="A7B8C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131058" y="5360670"/>
              <a:ext cx="102514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88.8%</a:t>
              </a:r>
              <a:endParaRPr lang="zh-CN" sz="2400" b="1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755642" y="5454968"/>
              <a:ext cx="12377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7B8CA"/>
                  </a:solidFill>
                  <a:latin typeface="+mn-lt"/>
                  <a:ea typeface="+mn-ea"/>
                  <a:cs typeface="+mn-cs"/>
                </a:rPr>
                <a:t>DeepSWE v1.1</a:t>
              </a:r>
              <a:endParaRPr lang="zh-CN" sz="1350" dirty="0">
                <a:solidFill>
                  <a:srgbClr val="A7B8C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388608" y="5360670"/>
              <a:ext cx="102514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72.7%</a:t>
              </a:r>
              <a:endParaRPr lang="zh-CN" sz="2400" b="1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260842" y="5454968"/>
              <a:ext cx="12703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7B8CA"/>
                  </a:solidFill>
                  <a:latin typeface="+mn-lt"/>
                  <a:ea typeface="+mn-ea"/>
                  <a:cs typeface="+mn-cs"/>
                </a:rPr>
                <a:t>Sol max 创新高</a:t>
              </a:r>
              <a:endParaRPr lang="zh-CN" sz="1350" dirty="0">
                <a:solidFill>
                  <a:srgbClr val="A7B8CA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80085" y="6212681"/>
            <a:ext cx="10831830" cy="220028"/>
            <a:chOff x="680085" y="6212681"/>
            <a:chExt cx="10831830" cy="220028"/>
          </a:xfrm>
        </p:grpSpPr>
        <p:sp>
          <p:nvSpPr>
            <p:cNvPr id="47" name="TextBox 47"/>
            <p:cNvSpPr txBox="1"/>
            <p:nvPr/>
          </p:nvSpPr>
          <p:spPr>
            <a:xfrm>
              <a:off x="680085" y="6212681"/>
              <a:ext cx="32130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A7B8CA"/>
                  </a:solidFill>
                  <a:latin typeface="+mn-lt"/>
                  <a:ea typeface="+mn-ea"/>
                  <a:cs typeface="+mn-cs"/>
                </a:rPr>
                <a:t>来源：OpenAI 发布公告与“主要评测结果”表。</a:t>
              </a:r>
              <a:endParaRPr lang="zh-CN" sz="1120" dirty="0">
                <a:solidFill>
                  <a:srgbClr val="A7B8C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995391" y="6212681"/>
              <a:ext cx="516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A7B8CA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05 / 12</a:t>
              </a:r>
              <a:endParaRPr lang="zh-CN" sz="1120" dirty="0">
                <a:solidFill>
                  <a:srgbClr val="A7B8CA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73608" y="597218"/>
            <a:ext cx="6130747" cy="717994"/>
            <a:chOff x="673608" y="597218"/>
            <a:chExt cx="6130747" cy="717994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597218"/>
              <a:ext cx="8254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能力伸缩</a:t>
              </a:r>
              <a:endParaRPr lang="zh-CN" sz="1350" b="1" spc="12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3608" y="845820"/>
              <a:ext cx="613074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ultra 不只是“想更久”，而是“并行推进”</a:t>
              </a:r>
              <a:endParaRPr lang="zh-CN" sz="24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85800" y="1657350"/>
            <a:ext cx="5334000" cy="3486150"/>
            <a:chOff x="685800" y="1657350"/>
            <a:chExt cx="5334000" cy="3486150"/>
          </a:xfrm>
        </p:grpSpPr>
        <p:sp>
          <p:nvSpPr>
            <p:cNvPr id="5" name="Rectangle 5"/>
            <p:cNvSpPr/>
            <p:nvPr/>
          </p:nvSpPr>
          <p:spPr>
            <a:xfrm>
              <a:off x="685800" y="1657350"/>
              <a:ext cx="5334000" cy="3486150"/>
            </a:xfrm>
            <a:prstGeom prst="roundRect">
              <a:avLst>
                <a:gd name="adj" fmla="val 2186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81456" y="1882140"/>
              <a:ext cx="24179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Terminal-Bench 2.1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1181100" y="2320290"/>
              <a:ext cx="4343400" cy="2751011"/>
              <a:chOff x="1181100" y="2320290"/>
              <a:chExt cx="4343400" cy="275101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181100" y="2514600"/>
                <a:ext cx="4343400" cy="1752600"/>
              </a:xfrm>
              <a:custGeom>
                <a:avLst/>
                <a:gdLst/>
                <a:ahLst/>
                <a:cxnLst/>
                <a:rect l="l" t="t" r="r" b="b"/>
                <a:pathLst>
                  <a:path w="4343400" h="1752600">
                    <a:moveTo>
                      <a:pt x="0" y="1752600"/>
                    </a:moveTo>
                    <a:lnTo>
                      <a:pt x="4343400" y="1752600"/>
                    </a:lnTo>
                    <a:moveTo>
                      <a:pt x="0" y="1314450"/>
                    </a:moveTo>
                    <a:lnTo>
                      <a:pt x="4343400" y="1314450"/>
                    </a:lnTo>
                    <a:moveTo>
                      <a:pt x="0" y="876300"/>
                    </a:moveTo>
                    <a:lnTo>
                      <a:pt x="4343400" y="876300"/>
                    </a:lnTo>
                    <a:moveTo>
                      <a:pt x="0" y="438150"/>
                    </a:moveTo>
                    <a:lnTo>
                      <a:pt x="4343400" y="438150"/>
                    </a:lnTo>
                    <a:moveTo>
                      <a:pt x="0" y="0"/>
                    </a:moveTo>
                    <a:lnTo>
                      <a:pt x="43434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2125980" y="2710815"/>
                <a:ext cx="1066800" cy="1556385"/>
              </a:xfrm>
              <a:prstGeom prst="roundRect">
                <a:avLst>
                  <a:gd name="adj" fmla="val 3571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3512820" y="2656522"/>
                <a:ext cx="1066800" cy="1610678"/>
              </a:xfrm>
              <a:prstGeom prst="roundRect">
                <a:avLst>
                  <a:gd name="adj" fmla="val 3571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2274949" y="2377440"/>
                <a:ext cx="76886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88.8%</a:t>
                </a:r>
                <a:endParaRPr lang="zh-CN" sz="180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3661789" y="2320290"/>
                <a:ext cx="76886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91.9%</a:t>
                </a:r>
                <a:endParaRPr lang="zh-CN" sz="180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2326896" y="4464368"/>
                <a:ext cx="6649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Sol max</a:t>
                </a:r>
                <a:endPara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3655014" y="4464368"/>
                <a:ext cx="78241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Sol ultra</a:t>
                </a:r>
                <a:endPara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643403" y="4807268"/>
                <a:ext cx="80563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2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+3.1 pts</a:t>
                </a:r>
                <a:endParaRPr lang="zh-CN" sz="1350" b="1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</p:grpSp>
      </p:grpSp>
      <p:grpSp>
        <p:nvGrpSpPr>
          <p:cNvPr id="32" name="Group 32"/>
          <p:cNvGrpSpPr/>
          <p:nvPr/>
        </p:nvGrpSpPr>
        <p:grpSpPr>
          <a:xfrm>
            <a:off x="6667500" y="1657350"/>
            <a:ext cx="4838700" cy="3486150"/>
            <a:chOff x="6667500" y="1657350"/>
            <a:chExt cx="4838700" cy="3486150"/>
          </a:xfrm>
        </p:grpSpPr>
        <p:sp>
          <p:nvSpPr>
            <p:cNvPr id="17" name="Rectangle 17"/>
            <p:cNvSpPr/>
            <p:nvPr/>
          </p:nvSpPr>
          <p:spPr>
            <a:xfrm>
              <a:off x="6667500" y="1657350"/>
              <a:ext cx="4838700" cy="3486150"/>
            </a:xfrm>
            <a:prstGeom prst="roundRect">
              <a:avLst>
                <a:gd name="adj" fmla="val 2186"/>
              </a:avLst>
            </a:prstGeom>
            <a:solidFill>
              <a:schemeClr val="accent5"/>
            </a:solidFill>
            <a:ln w="9525">
              <a:solidFill>
                <a:schemeClr val="accent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925056" y="1882140"/>
              <a:ext cx="20028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ultra 的工作方式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Ellipse 19"/>
            <p:cNvSpPr/>
            <p:nvPr/>
          </p:nvSpPr>
          <p:spPr>
            <a:xfrm>
              <a:off x="8648700" y="2343150"/>
              <a:ext cx="876300" cy="876300"/>
            </a:xfrm>
            <a:prstGeom prst="ellipse">
              <a:avLst/>
            </a:prstGeom>
            <a:solidFill>
              <a:schemeClr val="lt2"/>
            </a:solidFill>
            <a:ln w="28575">
              <a:solidFill>
                <a:schemeClr val="accent2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793756" y="2597468"/>
              <a:ext cx="5861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协调器</a:t>
              </a:r>
              <a:endPara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862085" y="2850356"/>
              <a:ext cx="4495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A7B8CA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ULTRA</a:t>
              </a:r>
              <a:endParaRPr lang="zh-CN" sz="1120" dirty="0">
                <a:solidFill>
                  <a:srgbClr val="A7B8CA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2" name="Freeform 22"/>
            <p:cNvSpPr/>
            <p:nvPr/>
          </p:nvSpPr>
          <p:spPr>
            <a:xfrm>
              <a:off x="7581900" y="3105150"/>
              <a:ext cx="3009900" cy="1219200"/>
            </a:xfrm>
            <a:custGeom>
              <a:avLst/>
              <a:gdLst/>
              <a:ahLst/>
              <a:cxnLst/>
              <a:rect l="l" t="t" r="r" b="b"/>
              <a:pathLst>
                <a:path w="3009900" h="1219200">
                  <a:moveTo>
                    <a:pt x="1200150" y="0"/>
                  </a:moveTo>
                  <a:lnTo>
                    <a:pt x="0" y="952500"/>
                  </a:lnTo>
                  <a:moveTo>
                    <a:pt x="1390650" y="114300"/>
                  </a:moveTo>
                  <a:lnTo>
                    <a:pt x="971550" y="1219200"/>
                  </a:lnTo>
                  <a:moveTo>
                    <a:pt x="1619250" y="114300"/>
                  </a:moveTo>
                  <a:lnTo>
                    <a:pt x="2038350" y="1219200"/>
                  </a:lnTo>
                  <a:moveTo>
                    <a:pt x="1809750" y="0"/>
                  </a:moveTo>
                  <a:lnTo>
                    <a:pt x="3009900" y="9525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7105650" y="3905250"/>
              <a:ext cx="647700" cy="6477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8153400" y="4229100"/>
              <a:ext cx="647700" cy="6477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9372600" y="4229100"/>
              <a:ext cx="647700" cy="6477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10420350" y="3905250"/>
              <a:ext cx="647700" cy="6477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273011" y="416480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检索</a:t>
              </a:r>
              <a:endPara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20761" y="44886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编码</a:t>
              </a:r>
              <a:endPara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539961" y="44886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验证</a:t>
              </a:r>
              <a:endPara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587711" y="416480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整合</a:t>
              </a:r>
              <a:endPara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928485" y="4793456"/>
              <a:ext cx="3026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A7B8CA"/>
                  </a:solidFill>
                  <a:latin typeface="+mn-lt"/>
                  <a:ea typeface="+mn-ea"/>
                  <a:cs typeface="+mn-cs"/>
                </a:rPr>
                <a:t>把复杂任务拆分为并行工作流，再综合结果。</a:t>
              </a:r>
              <a:endParaRPr lang="zh-CN" sz="1120" dirty="0">
                <a:solidFill>
                  <a:srgbClr val="A7B8CA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2168606" y="5615940"/>
            <a:ext cx="7854787" cy="352044"/>
            <a:chOff x="2168606" y="5615940"/>
            <a:chExt cx="7854787" cy="352044"/>
          </a:xfrm>
        </p:grpSpPr>
        <p:sp>
          <p:nvSpPr>
            <p:cNvPr id="33" name="TextBox 33"/>
            <p:cNvSpPr txBox="1"/>
            <p:nvPr/>
          </p:nvSpPr>
          <p:spPr>
            <a:xfrm>
              <a:off x="2168606" y="5615940"/>
              <a:ext cx="785478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当任务可拆分、验证成本高或需要多条证据链时，ultra 的价值最大。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80085" y="6212681"/>
            <a:ext cx="10831830" cy="220028"/>
            <a:chOff x="680085" y="6212681"/>
            <a:chExt cx="10831830" cy="220028"/>
          </a:xfrm>
        </p:grpSpPr>
        <p:sp>
          <p:nvSpPr>
            <p:cNvPr id="35" name="TextBox 35"/>
            <p:cNvSpPr txBox="1"/>
            <p:nvPr/>
          </p:nvSpPr>
          <p:spPr>
            <a:xfrm>
              <a:off x="680085" y="6212681"/>
              <a:ext cx="4655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A7B8CA"/>
                  </a:solidFill>
                  <a:latin typeface="+mn-lt"/>
                  <a:ea typeface="+mn-ea"/>
                  <a:cs typeface="+mn-cs"/>
                </a:rPr>
                <a:t>注：ultra 为最高能力设置；公告说明其可协调多个智能体并行工作。</a:t>
              </a:r>
              <a:endParaRPr lang="zh-CN" sz="1120" dirty="0">
                <a:solidFill>
                  <a:srgbClr val="A7B8C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995391" y="6212681"/>
              <a:ext cx="516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A7B8CA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06 / 12</a:t>
              </a:r>
              <a:endParaRPr lang="zh-CN" sz="1120" dirty="0">
                <a:solidFill>
                  <a:srgbClr val="A7B8CA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73608" y="597218"/>
            <a:ext cx="5113020" cy="717994"/>
            <a:chOff x="673608" y="597218"/>
            <a:chExt cx="5113020" cy="717994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597218"/>
              <a:ext cx="14464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知识工作与设计</a:t>
              </a:r>
              <a:endParaRPr lang="zh-CN" sz="1350" b="1" spc="12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3608" y="845820"/>
              <a:ext cx="51130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从杂乱上下文到可直接分享的成果</a:t>
              </a:r>
              <a:endParaRPr lang="zh-CN" sz="24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85800" y="1504950"/>
            <a:ext cx="4762500" cy="3848100"/>
            <a:chOff x="685800" y="1504950"/>
            <a:chExt cx="4762500" cy="3848100"/>
          </a:xfrm>
        </p:grpSpPr>
        <p:sp>
          <p:nvSpPr>
            <p:cNvPr id="5" name="Rectangle 5"/>
            <p:cNvSpPr/>
            <p:nvPr/>
          </p:nvSpPr>
          <p:spPr>
            <a:xfrm>
              <a:off x="685800" y="1504950"/>
              <a:ext cx="4762500" cy="3848100"/>
            </a:xfrm>
            <a:prstGeom prst="roundRect">
              <a:avLst>
                <a:gd name="adj" fmla="val 198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83742" y="1740218"/>
              <a:ext cx="20775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7B8CA"/>
                  </a:solidFill>
                  <a:latin typeface="+mn-lt"/>
                  <a:ea typeface="+mn-ea"/>
                  <a:cs typeface="+mn-cs"/>
                </a:rPr>
                <a:t>Sol ultra · BrowseComp</a:t>
              </a:r>
              <a:endParaRPr lang="zh-CN" sz="1350" dirty="0">
                <a:solidFill>
                  <a:srgbClr val="A7B8C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71550" y="2026920"/>
              <a:ext cx="2289821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92.2%</a:t>
              </a:r>
              <a:endParaRPr lang="zh-CN" sz="5400" b="1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8" name="Freeform 8"/>
            <p:cNvSpPr/>
            <p:nvPr/>
          </p:nvSpPr>
          <p:spPr>
            <a:xfrm>
              <a:off x="990600" y="2857500"/>
              <a:ext cx="4152900" cy="9525"/>
            </a:xfrm>
            <a:custGeom>
              <a:avLst/>
              <a:gdLst/>
              <a:ahLst/>
              <a:cxnLst/>
              <a:rect l="l" t="t" r="r" b="b"/>
              <a:pathLst>
                <a:path w="4152900" h="9525">
                  <a:moveTo>
                    <a:pt x="0" y="0"/>
                  </a:moveTo>
                  <a:lnTo>
                    <a:pt x="41529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83742" y="3111818"/>
              <a:ext cx="1593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7B8CA"/>
                  </a:solidFill>
                  <a:latin typeface="+mn-lt"/>
                  <a:ea typeface="+mn-ea"/>
                  <a:cs typeface="+mn-cs"/>
                </a:rPr>
                <a:t>Sol · OSWorld 2.0</a:t>
              </a:r>
              <a:endParaRPr lang="zh-CN" sz="1350" dirty="0">
                <a:solidFill>
                  <a:srgbClr val="A7B8C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71550" y="3322320"/>
              <a:ext cx="2289821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62.6%</a:t>
              </a:r>
              <a:endParaRPr lang="zh-CN" sz="5400" b="1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302508" y="3322320"/>
              <a:ext cx="83856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−85%</a:t>
              </a:r>
              <a:endParaRPr lang="zh-CN" sz="2400" b="1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307842" y="3740468"/>
              <a:ext cx="9314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 token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83742" y="4635818"/>
              <a:ext cx="21609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7B8CA"/>
                  </a:solidFill>
                  <a:latin typeface="+mn-lt"/>
                  <a:ea typeface="+mn-ea"/>
                  <a:cs typeface="+mn-cs"/>
                </a:rPr>
                <a:t>以更少输出超过 Opus 4.8</a:t>
              </a:r>
              <a:endParaRPr lang="zh-CN" sz="1350" dirty="0">
                <a:solidFill>
                  <a:srgbClr val="A7B8CA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898642" y="1606868"/>
            <a:ext cx="5607558" cy="3746182"/>
            <a:chOff x="5898642" y="1606868"/>
            <a:chExt cx="5607558" cy="3746182"/>
          </a:xfrm>
        </p:grpSpPr>
        <p:sp>
          <p:nvSpPr>
            <p:cNvPr id="15" name="TextBox 15"/>
            <p:cNvSpPr txBox="1"/>
            <p:nvPr/>
          </p:nvSpPr>
          <p:spPr>
            <a:xfrm>
              <a:off x="5898642" y="16068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7B8CA"/>
                  </a:solidFill>
                  <a:latin typeface="+mn-lt"/>
                  <a:ea typeface="+mn-ea"/>
                  <a:cs typeface="+mn-cs"/>
                </a:rPr>
                <a:t>端到端工作流</a:t>
              </a:r>
              <a:endParaRPr lang="zh-CN" sz="1350" dirty="0">
                <a:solidFill>
                  <a:srgbClr val="A7B8C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905500" y="2038350"/>
              <a:ext cx="1562100" cy="1314450"/>
            </a:xfrm>
            <a:prstGeom prst="roundRect">
              <a:avLst>
                <a:gd name="adj" fmla="val 5797"/>
              </a:avLst>
            </a:prstGeom>
            <a:solidFill>
              <a:schemeClr val="accent5"/>
            </a:solidFill>
            <a:ln w="9525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127242" y="223551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输入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127242" y="2578418"/>
              <a:ext cx="1050988" cy="549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文档 · Slack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M365 · Drive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Freeform 19"/>
            <p:cNvSpPr/>
            <p:nvPr/>
          </p:nvSpPr>
          <p:spPr>
            <a:xfrm>
              <a:off x="7620000" y="2581275"/>
              <a:ext cx="704850" cy="228600"/>
            </a:xfrm>
            <a:custGeom>
              <a:avLst/>
              <a:gdLst/>
              <a:ahLst/>
              <a:cxnLst/>
              <a:rect l="l" t="t" r="r" b="b"/>
              <a:pathLst>
                <a:path w="704850" h="228600">
                  <a:moveTo>
                    <a:pt x="0" y="114300"/>
                  </a:moveTo>
                  <a:lnTo>
                    <a:pt x="704850" y="114300"/>
                  </a:lnTo>
                  <a:moveTo>
                    <a:pt x="590550" y="0"/>
                  </a:moveTo>
                  <a:lnTo>
                    <a:pt x="704850" y="114300"/>
                  </a:lnTo>
                  <a:lnTo>
                    <a:pt x="590550" y="2286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8477250" y="2038350"/>
              <a:ext cx="1562100" cy="1314450"/>
            </a:xfrm>
            <a:prstGeom prst="roundRect">
              <a:avLst>
                <a:gd name="adj" fmla="val 5797"/>
              </a:avLst>
            </a:prstGeom>
            <a:solidFill>
              <a:schemeClr val="accent5"/>
            </a:solidFill>
            <a:ln w="9525">
              <a:solidFill>
                <a:schemeClr val="accent3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98992" y="223551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推理</a:t>
              </a:r>
              <a:endParaRPr lang="zh-CN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698992" y="2578418"/>
              <a:ext cx="9496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提取 · 核验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98992" y="2864168"/>
              <a:ext cx="9496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组织 · 计算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Freeform 24"/>
            <p:cNvSpPr/>
            <p:nvPr/>
          </p:nvSpPr>
          <p:spPr>
            <a:xfrm>
              <a:off x="10191750" y="2581275"/>
              <a:ext cx="609600" cy="228600"/>
            </a:xfrm>
            <a:custGeom>
              <a:avLst/>
              <a:gdLst/>
              <a:ahLst/>
              <a:cxnLst/>
              <a:rect l="l" t="t" r="r" b="b"/>
              <a:pathLst>
                <a:path w="609600" h="228600">
                  <a:moveTo>
                    <a:pt x="0" y="114300"/>
                  </a:moveTo>
                  <a:lnTo>
                    <a:pt x="609600" y="114300"/>
                  </a:lnTo>
                  <a:moveTo>
                    <a:pt x="495300" y="0"/>
                  </a:moveTo>
                  <a:lnTo>
                    <a:pt x="609600" y="114300"/>
                  </a:lnTo>
                  <a:lnTo>
                    <a:pt x="495300" y="22860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10934700" y="2038350"/>
              <a:ext cx="571500" cy="1314450"/>
            </a:xfrm>
            <a:prstGeom prst="roundRect">
              <a:avLst>
                <a:gd name="adj" fmla="val 13333"/>
              </a:avLst>
            </a:prstGeom>
            <a:solidFill>
              <a:schemeClr val="accent5"/>
            </a:solidFill>
            <a:ln w="9525">
              <a:solidFill>
                <a:schemeClr val="accent2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1056422" y="2431256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成果</a:t>
              </a:r>
              <a:endParaRPr lang="zh-CN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083305" y="2717006"/>
              <a:ext cx="274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PPT</a:t>
              </a:r>
              <a:endPara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063961" y="29646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表格</a:t>
              </a:r>
              <a:endPara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905500" y="3638550"/>
              <a:ext cx="5600700" cy="1714500"/>
            </a:xfrm>
            <a:prstGeom prst="roundRect">
              <a:avLst>
                <a:gd name="adj" fmla="val 4444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163056" y="382524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设计判断力的跃迁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165342" y="4235768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7B8CA"/>
                  </a:solidFill>
                  <a:latin typeface="+mn-lt"/>
                  <a:ea typeface="+mn-ea"/>
                  <a:cs typeface="+mn-cs"/>
                </a:rPr>
                <a:t>从零创建完全可编辑的演示文稿、文档与表格；</a:t>
              </a:r>
              <a:endParaRPr lang="zh-CN" sz="1350" dirty="0">
                <a:solidFill>
                  <a:srgbClr val="A7B8C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165342" y="4540568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7B8CA"/>
                  </a:solidFill>
                  <a:latin typeface="+mn-lt"/>
                  <a:ea typeface="+mn-ea"/>
                  <a:cs typeface="+mn-cs"/>
                </a:rPr>
                <a:t>也能从内容不完整的品牌模板推断视觉系统。</a:t>
              </a:r>
              <a:endParaRPr lang="zh-CN" sz="1350" dirty="0">
                <a:solidFill>
                  <a:srgbClr val="A7B8C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165342" y="4921568"/>
              <a:ext cx="42118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交付标准：布局、层级、设计与准确性同时可用。</a:t>
              </a:r>
              <a:endPara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80085" y="6193631"/>
            <a:ext cx="10831830" cy="220028"/>
            <a:chOff x="680085" y="6193631"/>
            <a:chExt cx="10831830" cy="220028"/>
          </a:xfrm>
        </p:grpSpPr>
        <p:sp>
          <p:nvSpPr>
            <p:cNvPr id="35" name="TextBox 35"/>
            <p:cNvSpPr txBox="1"/>
            <p:nvPr/>
          </p:nvSpPr>
          <p:spPr>
            <a:xfrm>
              <a:off x="680085" y="6193631"/>
              <a:ext cx="48362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A7B8CA"/>
                  </a:solidFill>
                  <a:latin typeface="+mn-lt"/>
                  <a:ea typeface="+mn-ea"/>
                  <a:cs typeface="+mn-cs"/>
                </a:rPr>
                <a:t>知识工作能力覆盖长时分析、浏览、工具使用、计算机操作与视觉交付。</a:t>
              </a:r>
              <a:endParaRPr lang="zh-CN" sz="1120" dirty="0">
                <a:solidFill>
                  <a:srgbClr val="A7B8C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995391" y="6193631"/>
              <a:ext cx="516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A7B8CA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07 / 12</a:t>
              </a:r>
              <a:endParaRPr lang="zh-CN" sz="1120" dirty="0">
                <a:solidFill>
                  <a:srgbClr val="A7B8CA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73608" y="597218"/>
            <a:ext cx="7487717" cy="717994"/>
            <a:chOff x="673608" y="597218"/>
            <a:chExt cx="7487717" cy="717994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597218"/>
              <a:ext cx="18603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网络安全与科学前沿</a:t>
              </a:r>
              <a:endParaRPr lang="zh-CN" sz="1350" b="1" spc="12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3608" y="845820"/>
              <a:ext cx="748771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能力跃迁最明显的地方，也是治理要求最高的地方</a:t>
              </a:r>
              <a:endParaRPr lang="zh-CN" sz="24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85800" y="1504950"/>
            <a:ext cx="7429500" cy="4095750"/>
            <a:chOff x="685800" y="1504950"/>
            <a:chExt cx="7429500" cy="4095750"/>
          </a:xfrm>
        </p:grpSpPr>
        <p:sp>
          <p:nvSpPr>
            <p:cNvPr id="5" name="Rectangle 5"/>
            <p:cNvSpPr/>
            <p:nvPr/>
          </p:nvSpPr>
          <p:spPr>
            <a:xfrm>
              <a:off x="685800" y="1504950"/>
              <a:ext cx="7429500" cy="4095750"/>
            </a:xfrm>
            <a:prstGeom prst="roundRect">
              <a:avLst>
                <a:gd name="adj" fmla="val 186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81456" y="1729740"/>
              <a:ext cx="23081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网络安全评测通过率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5810250" y="1752600"/>
              <a:ext cx="133350" cy="1333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014085" y="1754981"/>
              <a:ext cx="8798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GPT-5.6 Sol</a:t>
              </a:r>
              <a:endPara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6991350" y="1752600"/>
              <a:ext cx="133350" cy="1333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195185" y="1754981"/>
              <a:ext cx="6247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GPT-5.5</a:t>
              </a:r>
              <a:endPara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1200150" y="2336006"/>
              <a:ext cx="6419850" cy="2867978"/>
              <a:chOff x="1200150" y="2336006"/>
              <a:chExt cx="6419850" cy="2867978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200150" y="2400300"/>
                <a:ext cx="6419850" cy="2362200"/>
              </a:xfrm>
              <a:custGeom>
                <a:avLst/>
                <a:gdLst/>
                <a:ahLst/>
                <a:cxnLst/>
                <a:rect l="l" t="t" r="r" b="b"/>
                <a:pathLst>
                  <a:path w="6419850" h="2362200">
                    <a:moveTo>
                      <a:pt x="0" y="2362200"/>
                    </a:moveTo>
                    <a:lnTo>
                      <a:pt x="6419850" y="2362200"/>
                    </a:lnTo>
                    <a:moveTo>
                      <a:pt x="0" y="1771650"/>
                    </a:moveTo>
                    <a:lnTo>
                      <a:pt x="6419850" y="1771650"/>
                    </a:lnTo>
                    <a:moveTo>
                      <a:pt x="0" y="1181100"/>
                    </a:moveTo>
                    <a:lnTo>
                      <a:pt x="6419850" y="1181100"/>
                    </a:lnTo>
                    <a:moveTo>
                      <a:pt x="0" y="590550"/>
                    </a:moveTo>
                    <a:lnTo>
                      <a:pt x="6419850" y="590550"/>
                    </a:lnTo>
                    <a:moveTo>
                      <a:pt x="0" y="0"/>
                    </a:moveTo>
                    <a:lnTo>
                      <a:pt x="641985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1695450" y="2660332"/>
                <a:ext cx="552450" cy="2102168"/>
              </a:xfrm>
              <a:prstGeom prst="roundRect">
                <a:avLst>
                  <a:gd name="adj" fmla="val 5172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2286000" y="3409950"/>
                <a:ext cx="552450" cy="1352550"/>
              </a:xfrm>
              <a:prstGeom prst="roundRect">
                <a:avLst>
                  <a:gd name="adj" fmla="val 5172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3733800" y="2591752"/>
                <a:ext cx="552450" cy="2170748"/>
              </a:xfrm>
              <a:prstGeom prst="roundRect">
                <a:avLst>
                  <a:gd name="adj" fmla="val 5172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4324350" y="3348038"/>
                <a:ext cx="552450" cy="1414462"/>
              </a:xfrm>
              <a:prstGeom prst="roundRect">
                <a:avLst>
                  <a:gd name="adj" fmla="val 5172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5772150" y="3767138"/>
                <a:ext cx="552450" cy="995362"/>
              </a:xfrm>
              <a:prstGeom prst="roundRect">
                <a:avLst>
                  <a:gd name="adj" fmla="val 5172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7" name="Rectangle 17"/>
              <p:cNvSpPr/>
              <p:nvPr/>
            </p:nvSpPr>
            <p:spPr>
              <a:xfrm>
                <a:off x="6362700" y="4316730"/>
                <a:ext cx="552450" cy="445770"/>
              </a:xfrm>
              <a:prstGeom prst="roundRect">
                <a:avLst>
                  <a:gd name="adj" fmla="val 6410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791816" y="2402681"/>
                <a:ext cx="35971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71.2</a:t>
                </a:r>
                <a:endParaRPr lang="zh-CN" sz="112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2382366" y="3155156"/>
                <a:ext cx="35971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45.8</a:t>
                </a:r>
                <a:endParaRPr lang="zh-CN" sz="112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3830166" y="2336006"/>
                <a:ext cx="35971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73.5</a:t>
                </a:r>
                <a:endParaRPr lang="zh-CN" sz="112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420716" y="3098006"/>
                <a:ext cx="35971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47.9</a:t>
                </a:r>
                <a:endParaRPr lang="zh-CN" sz="112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5868516" y="3517106"/>
                <a:ext cx="35971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33.7</a:t>
                </a:r>
                <a:endParaRPr lang="zh-CN" sz="112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459066" y="4069556"/>
                <a:ext cx="35971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15.1</a:t>
                </a:r>
                <a:endParaRPr lang="zh-CN" sz="112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727680" y="4983956"/>
                <a:ext cx="107854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SEC-Bench Pro</a:t>
                </a:r>
                <a:endPara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3835385" y="4983956"/>
                <a:ext cx="93983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ExploitBench</a:t>
                </a:r>
                <a:endPara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5941484" y="4983956"/>
                <a:ext cx="80433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ExploitGym</a:t>
                </a:r>
                <a:endPara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984885" y="5307806"/>
              <a:ext cx="38529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A7B8CA"/>
                  </a:solidFill>
                  <a:latin typeface="+mn-lt"/>
                  <a:ea typeface="+mn-ea"/>
                  <a:cs typeface="+mn-cs"/>
                </a:rPr>
                <a:t>ExploitGym：Sol 六小时上限；两小时通过率为 24.9%。</a:t>
              </a:r>
              <a:endParaRPr lang="zh-CN" sz="1120" dirty="0">
                <a:solidFill>
                  <a:srgbClr val="A7B8CA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458200" y="1504950"/>
            <a:ext cx="3048000" cy="4095750"/>
            <a:chOff x="8458200" y="1504950"/>
            <a:chExt cx="3048000" cy="4095750"/>
          </a:xfrm>
        </p:grpSpPr>
        <p:sp>
          <p:nvSpPr>
            <p:cNvPr id="30" name="Rectangle 30"/>
            <p:cNvSpPr/>
            <p:nvPr/>
          </p:nvSpPr>
          <p:spPr>
            <a:xfrm>
              <a:off x="8458200" y="1504950"/>
              <a:ext cx="3048000" cy="4095750"/>
            </a:xfrm>
            <a:prstGeom prst="roundRect">
              <a:avLst>
                <a:gd name="adj" fmla="val 2500"/>
              </a:avLst>
            </a:prstGeom>
            <a:solidFill>
              <a:schemeClr val="accent5"/>
            </a:solidFill>
            <a:ln w="9525">
              <a:solidFill>
                <a:schemeClr val="accent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715756" y="17297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防御价值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Freeform 32"/>
            <p:cNvSpPr/>
            <p:nvPr/>
          </p:nvSpPr>
          <p:spPr>
            <a:xfrm>
              <a:off x="8724900" y="21336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18042" y="24069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  <a:endParaRPr lang="zh-CN" sz="13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175242" y="24069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安全代码审查与补丁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718042" y="29403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02</a:t>
              </a:r>
              <a:endPara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175242" y="29403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威胁建模与蓝队防御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718042" y="34737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  <a:endParaRPr lang="zh-CN" sz="135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175242" y="34737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授权环境内漏洞验证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Freeform 39"/>
            <p:cNvSpPr/>
            <p:nvPr/>
          </p:nvSpPr>
          <p:spPr>
            <a:xfrm>
              <a:off x="8724900" y="394335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718042" y="41976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关键条件</a:t>
              </a:r>
              <a:endPara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718042" y="4540568"/>
              <a:ext cx="2071116" cy="549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rgbClr val="A7B8CA"/>
                  </a:solidFill>
                  <a:latin typeface="+mn-lt"/>
                  <a:ea typeface="+mn-ea"/>
                  <a:cs typeface="+mn-cs"/>
                </a:rPr>
                <a:t>高能力必须与可信访问、</a:t>
              </a:r>
              <a:br>
                <a:rPr lang="zh-CN" sz="1350" dirty="0">
                  <a:solidFill>
                    <a:srgbClr val="A7B8CA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rgbClr val="A7B8CA"/>
                  </a:solidFill>
                  <a:latin typeface="+mn-lt"/>
                  <a:ea typeface="+mn-ea"/>
                  <a:cs typeface="+mn-cs"/>
                </a:rPr>
                <a:t>监控和风险校准同步扩展。</a:t>
              </a:r>
              <a:endParaRPr lang="zh-CN" sz="1350" dirty="0">
                <a:solidFill>
                  <a:srgbClr val="A7B8C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719185" y="5212556"/>
              <a:ext cx="12294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OpenAI Daybreak</a:t>
              </a:r>
              <a:endParaRPr lang="zh-CN" sz="112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80085" y="6193631"/>
            <a:ext cx="10831830" cy="220028"/>
            <a:chOff x="680085" y="6193631"/>
            <a:chExt cx="10831830" cy="220028"/>
          </a:xfrm>
        </p:grpSpPr>
        <p:sp>
          <p:nvSpPr>
            <p:cNvPr id="44" name="TextBox 44"/>
            <p:cNvSpPr txBox="1"/>
            <p:nvPr/>
          </p:nvSpPr>
          <p:spPr>
            <a:xfrm>
              <a:off x="680085" y="6193631"/>
              <a:ext cx="44533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A7B8CA"/>
                  </a:solidFill>
                  <a:latin typeface="+mn-lt"/>
                  <a:ea typeface="+mn-ea"/>
                  <a:cs typeface="+mn-cs"/>
                </a:rPr>
                <a:t>来源：OpenAI 发布公告；评测数值均按公告“主要评测结果”表。</a:t>
              </a:r>
              <a:endParaRPr lang="zh-CN" sz="1120" dirty="0">
                <a:solidFill>
                  <a:srgbClr val="A7B8C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995391" y="6193631"/>
              <a:ext cx="516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A7B8CA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08 / 12</a:t>
              </a:r>
              <a:endParaRPr lang="zh-CN" sz="1120" dirty="0">
                <a:solidFill>
                  <a:srgbClr val="A7B8CA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73608" y="597218"/>
            <a:ext cx="6130747" cy="717994"/>
            <a:chOff x="673608" y="597218"/>
            <a:chExt cx="6130747" cy="717994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597218"/>
              <a:ext cx="1032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安全与保障</a:t>
              </a:r>
              <a:endParaRPr lang="zh-CN" sz="1350" b="1" spc="12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3608" y="845820"/>
              <a:ext cx="613074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能力扩展，防护也按层级与风险同步扩展</a:t>
              </a:r>
              <a:endParaRPr lang="zh-CN" sz="24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95400" y="1530668"/>
            <a:ext cx="5181600" cy="3993832"/>
            <a:chOff x="1295400" y="1530668"/>
            <a:chExt cx="5181600" cy="3993832"/>
          </a:xfrm>
        </p:grpSpPr>
        <p:sp>
          <p:nvSpPr>
            <p:cNvPr id="5" name="Ellipse 5"/>
            <p:cNvSpPr/>
            <p:nvPr/>
          </p:nvSpPr>
          <p:spPr>
            <a:xfrm>
              <a:off x="1295400" y="1600200"/>
              <a:ext cx="3924300" cy="39243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6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1752600" y="2057400"/>
              <a:ext cx="3009900" cy="3009900"/>
            </a:xfrm>
            <a:prstGeom prst="ellipse">
              <a:avLst/>
            </a:prstGeom>
            <a:solidFill>
              <a:schemeClr val="accent5"/>
            </a:solidFill>
            <a:ln w="19050">
              <a:solidFill>
                <a:schemeClr val="accent1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2190750" y="2495550"/>
              <a:ext cx="2133600" cy="21336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2628900" y="2933700"/>
              <a:ext cx="1257300" cy="12573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2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869044" y="33404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模型内生</a:t>
              </a:r>
              <a:endPara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059868" y="360711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防护</a:t>
              </a:r>
              <a:endPara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328377" y="2540318"/>
              <a:ext cx="18583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实时检查 · 推理监控器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328377" y="2006918"/>
              <a:ext cx="18583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持续监控 · 账户级执行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419245" y="1530668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可信访问 · 风险校准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Freeform 14"/>
            <p:cNvSpPr/>
            <p:nvPr/>
          </p:nvSpPr>
          <p:spPr>
            <a:xfrm>
              <a:off x="4762500" y="2628900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852035" y="235505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A7B8CA"/>
                  </a:solidFill>
                  <a:latin typeface="+mn-lt"/>
                  <a:ea typeface="+mn-ea"/>
                  <a:cs typeface="+mn-cs"/>
                </a:rPr>
                <a:t>快速适应新攻击</a:t>
              </a:r>
              <a:endParaRPr lang="zh-CN" sz="1120" dirty="0">
                <a:solidFill>
                  <a:srgbClr val="A7B8C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Freeform 16"/>
            <p:cNvSpPr/>
            <p:nvPr/>
          </p:nvSpPr>
          <p:spPr>
            <a:xfrm>
              <a:off x="4762500" y="4495800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852035" y="469820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A7B8CA"/>
                  </a:solidFill>
                  <a:latin typeface="+mn-lt"/>
                  <a:ea typeface="+mn-ea"/>
                  <a:cs typeface="+mn-cs"/>
                </a:rPr>
                <a:t>任一层失效仍保留冗余</a:t>
              </a:r>
              <a:endParaRPr lang="zh-CN" sz="1120" dirty="0">
                <a:solidFill>
                  <a:srgbClr val="A7B8CA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410450" y="1644968"/>
            <a:ext cx="4095750" cy="4054316"/>
            <a:chOff x="7410450" y="1644968"/>
            <a:chExt cx="4095750" cy="4054316"/>
          </a:xfrm>
        </p:grpSpPr>
        <p:sp>
          <p:nvSpPr>
            <p:cNvPr id="19" name="TextBox 19"/>
            <p:cNvSpPr txBox="1"/>
            <p:nvPr/>
          </p:nvSpPr>
          <p:spPr>
            <a:xfrm>
              <a:off x="7422642" y="16449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7B8CA"/>
                  </a:solidFill>
                  <a:latin typeface="+mn-lt"/>
                  <a:ea typeface="+mn-ea"/>
                  <a:cs typeface="+mn-cs"/>
                </a:rPr>
                <a:t>发布前压力测试</a:t>
              </a:r>
              <a:endParaRPr lang="zh-CN" sz="1350" dirty="0">
                <a:solidFill>
                  <a:srgbClr val="A7B8C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10450" y="1874520"/>
              <a:ext cx="2976787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700,000</a:t>
              </a:r>
              <a:endParaRPr lang="zh-CN" sz="5400" b="1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22642" y="2654618"/>
              <a:ext cx="18571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NVIDIA A100 等效小时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Freeform 22"/>
            <p:cNvSpPr/>
            <p:nvPr/>
          </p:nvSpPr>
          <p:spPr>
            <a:xfrm>
              <a:off x="7429500" y="3086100"/>
              <a:ext cx="4076700" cy="9525"/>
            </a:xfrm>
            <a:custGeom>
              <a:avLst/>
              <a:gdLst/>
              <a:ahLst/>
              <a:cxnLst/>
              <a:rect l="l" t="t" r="r" b="b"/>
              <a:pathLst>
                <a:path w="4076700" h="9525">
                  <a:moveTo>
                    <a:pt x="0" y="0"/>
                  </a:moveTo>
                  <a:lnTo>
                    <a:pt x="40767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410450" y="2979420"/>
              <a:ext cx="1946339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≈ 10×</a:t>
              </a:r>
              <a:endParaRPr lang="zh-CN" sz="5400" b="1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422642" y="375951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网络安全防护拦截潜在有害活动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Freeform 25"/>
            <p:cNvSpPr/>
            <p:nvPr/>
          </p:nvSpPr>
          <p:spPr>
            <a:xfrm>
              <a:off x="7429500" y="4191000"/>
              <a:ext cx="4076700" cy="9525"/>
            </a:xfrm>
            <a:custGeom>
              <a:avLst/>
              <a:gdLst/>
              <a:ahLst/>
              <a:cxnLst/>
              <a:rect l="l" t="t" r="r" b="b"/>
              <a:pathLst>
                <a:path w="4076700" h="9525">
                  <a:moveTo>
                    <a:pt x="0" y="0"/>
                  </a:moveTo>
                  <a:lnTo>
                    <a:pt x="40767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422642" y="44453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边界判断</a:t>
              </a:r>
              <a:endParaRPr lang="zh-CN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422642" y="4769168"/>
              <a:ext cx="34453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7B8CA"/>
                  </a:solidFill>
                  <a:latin typeface="+mn-lt"/>
                  <a:ea typeface="+mn-ea"/>
                  <a:cs typeface="+mn-cs"/>
                </a:rPr>
                <a:t>官方称：评估未达到“Critical”能力阈值；</a:t>
              </a:r>
              <a:endParaRPr lang="zh-CN" sz="1350" dirty="0">
                <a:solidFill>
                  <a:srgbClr val="A7B8C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422642" y="5073968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7B8CA"/>
                  </a:solidFill>
                  <a:latin typeface="+mn-lt"/>
                  <a:ea typeface="+mn-ea"/>
                  <a:cs typeface="+mn-cs"/>
                </a:rPr>
                <a:t>但双重用途能力仍需持续监控与快速修复。</a:t>
              </a:r>
              <a:endParaRPr lang="zh-CN" sz="1350" dirty="0">
                <a:solidFill>
                  <a:srgbClr val="A7B8C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423785" y="5479256"/>
              <a:ext cx="23019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可信访问通道：OpenAI Daybreak</a:t>
              </a:r>
              <a:endParaRPr lang="zh-CN" sz="112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80085" y="6193631"/>
            <a:ext cx="10831830" cy="220028"/>
            <a:chOff x="680085" y="6193631"/>
            <a:chExt cx="10831830" cy="220028"/>
          </a:xfrm>
        </p:grpSpPr>
        <p:sp>
          <p:nvSpPr>
            <p:cNvPr id="31" name="TextBox 31"/>
            <p:cNvSpPr txBox="1"/>
            <p:nvPr/>
          </p:nvSpPr>
          <p:spPr>
            <a:xfrm>
              <a:off x="680085" y="6193631"/>
              <a:ext cx="52885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A7B8CA"/>
                  </a:solidFill>
                  <a:latin typeface="+mn-lt"/>
                  <a:ea typeface="+mn-ea"/>
                  <a:cs typeface="+mn-cs"/>
                </a:rPr>
                <a:t>安全不是单一分类器，而是模型、请求、账户与运营响应共同组成的分层系统。</a:t>
              </a:r>
              <a:endParaRPr lang="zh-CN" sz="1120" dirty="0">
                <a:solidFill>
                  <a:srgbClr val="A7B8C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995391" y="6193631"/>
              <a:ext cx="516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A7B8CA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09 / 12</a:t>
              </a:r>
              <a:endParaRPr lang="zh-CN" sz="1120" dirty="0">
                <a:solidFill>
                  <a:srgbClr val="A7B8CA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73608" y="597218"/>
            <a:ext cx="6809232" cy="717994"/>
            <a:chOff x="673608" y="597218"/>
            <a:chExt cx="6809232" cy="717994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597218"/>
              <a:ext cx="12394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内部研发加速</a:t>
              </a:r>
              <a:endParaRPr lang="zh-CN" sz="1350" b="1" spc="12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3608" y="845820"/>
              <a:ext cx="680923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采用正在形成飞轮，但采用量不等于研究进展</a:t>
              </a:r>
              <a:endParaRPr lang="zh-CN" sz="24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85800" y="1504950"/>
            <a:ext cx="3143250" cy="3733800"/>
            <a:chOff x="685800" y="1504950"/>
            <a:chExt cx="3143250" cy="3733800"/>
          </a:xfrm>
        </p:grpSpPr>
        <p:sp>
          <p:nvSpPr>
            <p:cNvPr id="5" name="Rectangle 5"/>
            <p:cNvSpPr/>
            <p:nvPr/>
          </p:nvSpPr>
          <p:spPr>
            <a:xfrm>
              <a:off x="685800" y="1504950"/>
              <a:ext cx="3143250" cy="3733800"/>
            </a:xfrm>
            <a:prstGeom prst="roundRect">
              <a:avLst>
                <a:gd name="adj" fmla="val 2424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83742" y="1740218"/>
              <a:ext cx="25943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7B8CA"/>
                  </a:solidFill>
                  <a:latin typeface="+mn-lt"/>
                  <a:ea typeface="+mn-ea"/>
                  <a:cs typeface="+mn-cs"/>
                </a:rPr>
                <a:t>活跃研究人员 · 日均输出 token</a:t>
              </a:r>
              <a:endParaRPr lang="zh-CN" sz="1350" dirty="0">
                <a:solidFill>
                  <a:srgbClr val="A7B8C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71550" y="2179320"/>
              <a:ext cx="1526526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&gt; 2×</a:t>
              </a:r>
              <a:endParaRPr lang="zh-CN" sz="5400" b="1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83742" y="3016568"/>
              <a:ext cx="20203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相对 GPT-5.5 最高水平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Freeform 9"/>
            <p:cNvSpPr/>
            <p:nvPr/>
          </p:nvSpPr>
          <p:spPr>
            <a:xfrm>
              <a:off x="990600" y="3486150"/>
              <a:ext cx="2533650" cy="9525"/>
            </a:xfrm>
            <a:custGeom>
              <a:avLst/>
              <a:gdLst/>
              <a:ahLst/>
              <a:cxnLst/>
              <a:rect l="l" t="t" r="r" b="b"/>
              <a:pathLst>
                <a:path w="2533650" h="9525">
                  <a:moveTo>
                    <a:pt x="0" y="0"/>
                  </a:moveTo>
                  <a:lnTo>
                    <a:pt x="25336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83742" y="37404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7B8CA"/>
                  </a:solidFill>
                  <a:latin typeface="+mn-lt"/>
                  <a:ea typeface="+mn-ea"/>
                  <a:cs typeface="+mn-cs"/>
                </a:rPr>
                <a:t>覆盖开发循环</a:t>
              </a:r>
              <a:endParaRPr lang="zh-CN" sz="1350" dirty="0">
                <a:solidFill>
                  <a:srgbClr val="A7B8C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83742" y="4102418"/>
              <a:ext cx="1925383" cy="5688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诊断故障 · 优化训练系统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运行实验 · 解释结果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84885" y="4831556"/>
              <a:ext cx="19470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AI 辅助正成为默认工作方式</a:t>
              </a:r>
              <a:endParaRPr lang="zh-CN" sz="112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279392" y="1606868"/>
            <a:ext cx="7093458" cy="1860232"/>
            <a:chOff x="4279392" y="1606868"/>
            <a:chExt cx="7093458" cy="1860232"/>
          </a:xfrm>
        </p:grpSpPr>
        <p:sp>
          <p:nvSpPr>
            <p:cNvPr id="14" name="TextBox 14"/>
            <p:cNvSpPr txBox="1"/>
            <p:nvPr/>
          </p:nvSpPr>
          <p:spPr>
            <a:xfrm>
              <a:off x="4279392" y="1606868"/>
              <a:ext cx="22218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7B8CA"/>
                  </a:solidFill>
                  <a:latin typeface="+mn-lt"/>
                  <a:ea typeface="+mn-ea"/>
                  <a:cs typeface="+mn-cs"/>
                </a:rPr>
                <a:t>过去六个月 · 内部采用信号</a:t>
              </a:r>
              <a:endParaRPr lang="zh-CN" sz="1350" dirty="0">
                <a:solidFill>
                  <a:srgbClr val="A7B8C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Ellipse 15"/>
            <p:cNvSpPr/>
            <p:nvPr/>
          </p:nvSpPr>
          <p:spPr>
            <a:xfrm>
              <a:off x="4419600" y="2095500"/>
              <a:ext cx="1371600" cy="1371600"/>
            </a:xfrm>
            <a:prstGeom prst="ellipse">
              <a:avLst/>
            </a:prstGeom>
            <a:solidFill>
              <a:schemeClr val="accent5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7219950" y="2095500"/>
              <a:ext cx="1371600" cy="1371600"/>
            </a:xfrm>
            <a:prstGeom prst="ellipse">
              <a:avLst/>
            </a:prstGeom>
            <a:solidFill>
              <a:schemeClr val="accent5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10001250" y="2095500"/>
              <a:ext cx="1371600" cy="1371600"/>
            </a:xfrm>
            <a:prstGeom prst="ellipse">
              <a:avLst/>
            </a:prstGeom>
            <a:solidFill>
              <a:schemeClr val="accent5"/>
            </a:solidFill>
            <a:ln w="28575">
              <a:solidFill>
                <a:schemeClr val="accent2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5810250" y="2667000"/>
              <a:ext cx="4152900" cy="228600"/>
            </a:xfrm>
            <a:custGeom>
              <a:avLst/>
              <a:gdLst/>
              <a:ahLst/>
              <a:cxnLst/>
              <a:rect l="l" t="t" r="r" b="b"/>
              <a:pathLst>
                <a:path w="4152900" h="228600">
                  <a:moveTo>
                    <a:pt x="0" y="114300"/>
                  </a:moveTo>
                  <a:lnTo>
                    <a:pt x="1371600" y="114300"/>
                  </a:lnTo>
                  <a:moveTo>
                    <a:pt x="1257300" y="0"/>
                  </a:moveTo>
                  <a:lnTo>
                    <a:pt x="1371600" y="114300"/>
                  </a:lnTo>
                  <a:lnTo>
                    <a:pt x="1257300" y="228600"/>
                  </a:lnTo>
                  <a:moveTo>
                    <a:pt x="2800350" y="114300"/>
                  </a:moveTo>
                  <a:lnTo>
                    <a:pt x="4152900" y="114300"/>
                  </a:lnTo>
                  <a:moveTo>
                    <a:pt x="4038600" y="0"/>
                  </a:moveTo>
                  <a:lnTo>
                    <a:pt x="4152900" y="114300"/>
                  </a:lnTo>
                  <a:lnTo>
                    <a:pt x="4038600" y="22860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599617" y="2403158"/>
              <a:ext cx="101156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100×</a:t>
              </a:r>
              <a:endParaRPr lang="zh-CN" sz="3150" b="1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496587" y="294560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编码推理算力份额</a:t>
              </a:r>
              <a:endPara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99967" y="2403158"/>
              <a:ext cx="101156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≈22×</a:t>
              </a:r>
              <a:endParaRPr lang="zh-CN" sz="3150" b="1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293168" y="2945606"/>
              <a:ext cx="12251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内部智能体 token</a:t>
              </a:r>
              <a:endPara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058821" y="2403158"/>
              <a:ext cx="125645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+16.2</a:t>
              </a:r>
              <a:endParaRPr lang="zh-CN" sz="3150" b="1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153625" y="294560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自我改进综合分</a:t>
              </a:r>
              <a:endPara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286250" y="4400550"/>
            <a:ext cx="7219950" cy="1333500"/>
            <a:chOff x="4286250" y="4400550"/>
            <a:chExt cx="7219950" cy="1333500"/>
          </a:xfrm>
        </p:grpSpPr>
        <p:sp>
          <p:nvSpPr>
            <p:cNvPr id="26" name="Rectangle 26"/>
            <p:cNvSpPr/>
            <p:nvPr/>
          </p:nvSpPr>
          <p:spPr>
            <a:xfrm>
              <a:off x="4286250" y="4400550"/>
              <a:ext cx="7219950" cy="1333500"/>
            </a:xfrm>
            <a:prstGeom prst="roundRect">
              <a:avLst>
                <a:gd name="adj" fmla="val 5714"/>
              </a:avLst>
            </a:prstGeom>
            <a:solidFill>
              <a:schemeClr val="accent5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581906" y="46062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关键解读</a:t>
              </a:r>
              <a:endParaRPr lang="zh-CN" sz="18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81906" y="4987290"/>
              <a:ext cx="23463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采用指标 ≠ 研究进展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84192" y="5359718"/>
              <a:ext cx="5102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7B8CA"/>
                  </a:solidFill>
                  <a:latin typeface="+mn-lt"/>
                  <a:ea typeface="+mn-ea"/>
                  <a:cs typeface="+mn-cs"/>
                </a:rPr>
                <a:t>它证明工作方式正在迁移；真正效果仍要用真实任务评测验证。</a:t>
              </a:r>
              <a:endParaRPr lang="zh-CN" sz="1350" dirty="0">
                <a:solidFill>
                  <a:srgbClr val="A7B8CA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80085" y="6193631"/>
            <a:ext cx="10831830" cy="220028"/>
            <a:chOff x="680085" y="6193631"/>
            <a:chExt cx="10831830" cy="220028"/>
          </a:xfrm>
        </p:grpSpPr>
        <p:sp>
          <p:nvSpPr>
            <p:cNvPr id="31" name="TextBox 31"/>
            <p:cNvSpPr txBox="1"/>
            <p:nvPr/>
          </p:nvSpPr>
          <p:spPr>
            <a:xfrm>
              <a:off x="680085" y="6193631"/>
              <a:ext cx="49869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A7B8CA"/>
                  </a:solidFill>
                  <a:latin typeface="+mn-lt"/>
                  <a:ea typeface="+mn-ea"/>
                  <a:cs typeface="+mn-cs"/>
                </a:rPr>
                <a:t>内部评测覆盖系统调试、内核与训练配方优化、机器学习实验和模型改进。</a:t>
              </a:r>
              <a:endParaRPr lang="zh-CN" sz="1120" dirty="0">
                <a:solidFill>
                  <a:srgbClr val="A7B8C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995391" y="6193631"/>
              <a:ext cx="516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A7B8CA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10 / 12</a:t>
              </a:r>
              <a:endParaRPr lang="zh-CN" sz="1120" dirty="0">
                <a:solidFill>
                  <a:srgbClr val="A7B8CA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73608" y="597218"/>
            <a:ext cx="8377044" cy="717994"/>
            <a:chOff x="673608" y="597218"/>
            <a:chExt cx="8377044" cy="717994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597218"/>
              <a:ext cx="12394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可用性与定价</a:t>
              </a:r>
              <a:endParaRPr lang="zh-CN" sz="1350" b="1" spc="12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3608" y="845820"/>
              <a:ext cx="837704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同日覆盖 ChatGPT、Codex 与 API；价格继续向下演进</a:t>
              </a:r>
              <a:endParaRPr lang="zh-CN" sz="24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85800" y="1409700"/>
            <a:ext cx="10820400" cy="476250"/>
            <a:chOff x="685800" y="1409700"/>
            <a:chExt cx="10820400" cy="476250"/>
          </a:xfrm>
        </p:grpSpPr>
        <p:sp>
          <p:nvSpPr>
            <p:cNvPr id="5" name="Rectangle 5"/>
            <p:cNvSpPr/>
            <p:nvPr/>
          </p:nvSpPr>
          <p:spPr>
            <a:xfrm>
              <a:off x="685800" y="1409700"/>
              <a:ext cx="10820400" cy="476250"/>
            </a:xfrm>
            <a:prstGeom prst="roundRect">
              <a:avLst>
                <a:gd name="adj" fmla="val 16000"/>
              </a:avLst>
            </a:prstGeom>
            <a:solidFill>
              <a:schemeClr val="accent5"/>
            </a:solidFill>
            <a:ln w="9525">
              <a:solidFill>
                <a:schemeClr val="accent6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07542" y="15687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发布当日可用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641092" y="1568768"/>
              <a:ext cx="7721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ChatGPT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088892" y="1568768"/>
              <a:ext cx="5444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Codex</a:t>
              </a:r>
              <a:endParaRPr lang="zh-CN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250942" y="1568768"/>
              <a:ext cx="9939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OpenAI API</a:t>
              </a:r>
              <a:endPara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061835" y="1593056"/>
              <a:ext cx="23785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A7B8CA"/>
                  </a:solidFill>
                  <a:latin typeface="+mn-lt"/>
                  <a:ea typeface="+mn-ea"/>
                  <a:cs typeface="+mn-cs"/>
                </a:rPr>
                <a:t>全球发布在随后 24 小时内逐步扩大</a:t>
              </a:r>
              <a:endParaRPr lang="zh-CN" sz="1120" dirty="0">
                <a:solidFill>
                  <a:srgbClr val="A7B8CA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78942" y="2159318"/>
            <a:ext cx="4230923" cy="264033"/>
            <a:chOff x="678942" y="2159318"/>
            <a:chExt cx="4230923" cy="264033"/>
          </a:xfrm>
        </p:grpSpPr>
        <p:sp>
          <p:nvSpPr>
            <p:cNvPr id="12" name="TextBox 12"/>
            <p:cNvSpPr txBox="1"/>
            <p:nvPr/>
          </p:nvSpPr>
          <p:spPr>
            <a:xfrm>
              <a:off x="678942" y="2159318"/>
              <a:ext cx="42309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2026 年 7 月 9 日首发价格 · 美元 / 100 万 token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85800" y="2476500"/>
            <a:ext cx="6381750" cy="2667000"/>
            <a:chOff x="685800" y="2476500"/>
            <a:chExt cx="6381750" cy="2667000"/>
          </a:xfrm>
        </p:grpSpPr>
        <p:sp>
          <p:nvSpPr>
            <p:cNvPr id="14" name="Rectangle 14"/>
            <p:cNvSpPr/>
            <p:nvPr/>
          </p:nvSpPr>
          <p:spPr>
            <a:xfrm>
              <a:off x="685800" y="2476500"/>
              <a:ext cx="6381750" cy="2667000"/>
            </a:xfrm>
            <a:prstGeom prst="roundRect">
              <a:avLst>
                <a:gd name="adj" fmla="val 2857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85800" y="2476500"/>
              <a:ext cx="6381750" cy="666750"/>
            </a:xfrm>
            <a:prstGeom prst="roundRect">
              <a:avLst>
                <a:gd name="adj" fmla="val 11429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685800" y="2476500"/>
              <a:ext cx="6381750" cy="2667000"/>
            </a:xfrm>
            <a:custGeom>
              <a:avLst/>
              <a:gdLst/>
              <a:ahLst/>
              <a:cxnLst/>
              <a:rect l="l" t="t" r="r" b="b"/>
              <a:pathLst>
                <a:path w="6381750" h="2667000">
                  <a:moveTo>
                    <a:pt x="0" y="666750"/>
                  </a:moveTo>
                  <a:lnTo>
                    <a:pt x="6381750" y="666750"/>
                  </a:lnTo>
                  <a:moveTo>
                    <a:pt x="0" y="1333500"/>
                  </a:moveTo>
                  <a:lnTo>
                    <a:pt x="6381750" y="1333500"/>
                  </a:lnTo>
                  <a:moveTo>
                    <a:pt x="0" y="2000250"/>
                  </a:moveTo>
                  <a:lnTo>
                    <a:pt x="6381750" y="2000250"/>
                  </a:lnTo>
                  <a:moveTo>
                    <a:pt x="3257550" y="0"/>
                  </a:moveTo>
                  <a:lnTo>
                    <a:pt x="3257550" y="2667000"/>
                  </a:lnTo>
                  <a:moveTo>
                    <a:pt x="4819650" y="0"/>
                  </a:moveTo>
                  <a:lnTo>
                    <a:pt x="4819650" y="26670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7542" y="2740342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322354" y="2740342"/>
              <a:ext cx="9613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输入 $/1M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884454" y="2740342"/>
              <a:ext cx="9613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 $/1M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07542" y="3407092"/>
              <a:ext cx="11127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GPT-5.6 Sol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770215" y="3407092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$5.00</a:t>
              </a:r>
              <a:endParaRPr lang="zh-CN" sz="135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232360" y="3407092"/>
              <a:ext cx="6134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$30.00</a:t>
              </a:r>
              <a:endParaRPr lang="zh-CN" sz="135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07542" y="4073842"/>
              <a:ext cx="13676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GPT-5.6 Terra</a:t>
              </a:r>
              <a:endParaRPr lang="zh-CN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770215" y="4073842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$2.50</a:t>
              </a:r>
              <a:endParaRPr lang="zh-CN" sz="135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232360" y="4073842"/>
              <a:ext cx="6134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$15.00</a:t>
              </a:r>
              <a:endParaRPr lang="zh-CN" sz="135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07542" y="4740592"/>
              <a:ext cx="12646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GPT-5.6 Luna</a:t>
              </a:r>
              <a:endPara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770215" y="4740592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$1.00</a:t>
              </a:r>
              <a:endParaRPr lang="zh-CN" sz="135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332315" y="4740592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$6.00</a:t>
              </a:r>
              <a:endParaRPr lang="zh-CN" sz="135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524750" y="2076450"/>
            <a:ext cx="4003053" cy="3067050"/>
            <a:chOff x="7524750" y="2076450"/>
            <a:chExt cx="4003053" cy="3067050"/>
          </a:xfrm>
        </p:grpSpPr>
        <p:sp>
          <p:nvSpPr>
            <p:cNvPr id="30" name="Rectangle 30"/>
            <p:cNvSpPr/>
            <p:nvPr/>
          </p:nvSpPr>
          <p:spPr>
            <a:xfrm>
              <a:off x="7524750" y="2076450"/>
              <a:ext cx="3981450" cy="1276350"/>
            </a:xfrm>
            <a:prstGeom prst="roundRect">
              <a:avLst>
                <a:gd name="adj" fmla="val 5970"/>
              </a:avLst>
            </a:prstGeom>
            <a:solidFill>
              <a:schemeClr val="accent5"/>
            </a:solidFill>
            <a:ln w="19050">
              <a:solidFill>
                <a:schemeClr val="accent2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784592" y="2311718"/>
              <a:ext cx="15021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2026.07.30 更新</a:t>
              </a:r>
              <a:endPara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779258" y="2655570"/>
              <a:ext cx="189418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Terra −20%</a:t>
              </a:r>
              <a:endParaRPr lang="zh-CN" sz="2400" b="1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817608" y="2655570"/>
              <a:ext cx="171019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Luna −80%</a:t>
              </a:r>
              <a:endParaRPr lang="zh-CN" sz="2400" b="1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524750" y="3562350"/>
              <a:ext cx="3981450" cy="1581150"/>
            </a:xfrm>
            <a:prstGeom prst="roundRect">
              <a:avLst>
                <a:gd name="adj" fmla="val 4819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784592" y="37976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提示缓存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779258" y="4103370"/>
              <a:ext cx="95730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1.25×</a:t>
              </a:r>
              <a:endParaRPr lang="zh-CN" sz="2400" b="1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003792" y="42167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7B8CA"/>
                  </a:solidFill>
                  <a:latin typeface="+mn-lt"/>
                  <a:ea typeface="+mn-ea"/>
                  <a:cs typeface="+mn-cs"/>
                </a:rPr>
                <a:t>缓存写入</a:t>
              </a:r>
              <a:endParaRPr lang="zh-CN" sz="1350" dirty="0">
                <a:solidFill>
                  <a:srgbClr val="A7B8C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779258" y="4560570"/>
              <a:ext cx="83856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−90%</a:t>
              </a:r>
              <a:endParaRPr lang="zh-CN" sz="2400" b="1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003792" y="46739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7B8CA"/>
                  </a:solidFill>
                  <a:latin typeface="+mn-lt"/>
                  <a:ea typeface="+mn-ea"/>
                  <a:cs typeface="+mn-cs"/>
                </a:rPr>
                <a:t>缓存读取折扣</a:t>
              </a:r>
              <a:endParaRPr lang="zh-CN" sz="1350" dirty="0">
                <a:solidFill>
                  <a:srgbClr val="A7B8CA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80085" y="5593556"/>
            <a:ext cx="6532423" cy="220028"/>
            <a:chOff x="680085" y="5593556"/>
            <a:chExt cx="6532423" cy="220028"/>
          </a:xfrm>
        </p:grpSpPr>
        <p:sp>
          <p:nvSpPr>
            <p:cNvPr id="41" name="TextBox 41"/>
            <p:cNvSpPr txBox="1"/>
            <p:nvPr/>
          </p:nvSpPr>
          <p:spPr>
            <a:xfrm>
              <a:off x="680085" y="5593556"/>
              <a:ext cx="65324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A7B8CA"/>
                  </a:solidFill>
                  <a:latin typeface="+mn-lt"/>
                  <a:ea typeface="+mn-ea"/>
                  <a:cs typeface="+mn-cs"/>
                </a:rPr>
                <a:t>首发价保留公告发布时状态；7 月 30 日更新仅按官方说明呈现降幅。缓存生命周期至少 30 分钟。</a:t>
              </a:r>
              <a:endParaRPr lang="zh-CN" sz="1120" dirty="0">
                <a:solidFill>
                  <a:srgbClr val="A7B8CA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80085" y="6212681"/>
            <a:ext cx="10831830" cy="220028"/>
            <a:chOff x="680085" y="6212681"/>
            <a:chExt cx="10831830" cy="220028"/>
          </a:xfrm>
        </p:grpSpPr>
        <p:sp>
          <p:nvSpPr>
            <p:cNvPr id="43" name="TextBox 43"/>
            <p:cNvSpPr txBox="1"/>
            <p:nvPr/>
          </p:nvSpPr>
          <p:spPr>
            <a:xfrm>
              <a:off x="680085" y="6212681"/>
              <a:ext cx="30937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A7B8CA"/>
                  </a:solidFill>
                  <a:latin typeface="+mn-lt"/>
                  <a:ea typeface="+mn-ea"/>
                  <a:cs typeface="+mn-cs"/>
                </a:rPr>
                <a:t>来源：OpenAI GPT-5.6 发布公告中文译版。</a:t>
              </a:r>
              <a:endParaRPr lang="zh-CN" sz="1120" dirty="0">
                <a:solidFill>
                  <a:srgbClr val="A7B8C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995391" y="6212681"/>
              <a:ext cx="516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A7B8CA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11 / 12</a:t>
              </a:r>
              <a:endParaRPr lang="zh-CN" sz="1120" dirty="0">
                <a:solidFill>
                  <a:srgbClr val="A7B8CA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73608" y="597218"/>
            <a:ext cx="6469990" cy="717994"/>
            <a:chOff x="673608" y="597218"/>
            <a:chExt cx="6469990" cy="717994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597218"/>
              <a:ext cx="8254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选型结论</a:t>
              </a:r>
              <a:endParaRPr lang="zh-CN" sz="1350" b="1" spc="12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3608" y="845820"/>
              <a:ext cx="646999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先按任务匹配模型，再按风险提高推理强度</a:t>
              </a:r>
              <a:endParaRPr lang="zh-CN" sz="24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78942" y="1606868"/>
            <a:ext cx="7455408" cy="3593782"/>
            <a:chOff x="678942" y="1606868"/>
            <a:chExt cx="7455408" cy="3593782"/>
          </a:xfrm>
        </p:grpSpPr>
        <p:sp>
          <p:nvSpPr>
            <p:cNvPr id="5" name="TextBox 5"/>
            <p:cNvSpPr txBox="1"/>
            <p:nvPr/>
          </p:nvSpPr>
          <p:spPr>
            <a:xfrm>
              <a:off x="678942" y="16068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7B8CA"/>
                  </a:solidFill>
                  <a:latin typeface="+mn-lt"/>
                  <a:ea typeface="+mn-ea"/>
                  <a:cs typeface="+mn-cs"/>
                </a:rPr>
                <a:t>任务层级</a:t>
              </a:r>
              <a:endParaRPr lang="zh-CN" sz="1350" dirty="0">
                <a:solidFill>
                  <a:srgbClr val="A7B8C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Rectangle 6"/>
            <p:cNvSpPr/>
            <p:nvPr/>
          </p:nvSpPr>
          <p:spPr>
            <a:xfrm>
              <a:off x="685800" y="2019300"/>
              <a:ext cx="7448550" cy="876300"/>
            </a:xfrm>
            <a:prstGeom prst="roundRect">
              <a:avLst>
                <a:gd name="adj" fmla="val 8696"/>
              </a:avLst>
            </a:prstGeom>
            <a:solidFill>
              <a:schemeClr val="accent5"/>
            </a:solidFill>
            <a:ln w="9525">
              <a:solidFill>
                <a:schemeClr val="accent2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85800" y="2019300"/>
              <a:ext cx="1257300" cy="876300"/>
            </a:xfrm>
            <a:prstGeom prst="roundRect">
              <a:avLst>
                <a:gd name="adj" fmla="val 8696"/>
              </a:avLst>
            </a:prstGeom>
            <a:solidFill>
              <a:schemeClr val="accent2">
                <a:alpha val="16000"/>
              </a:schemeClr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81456" y="2205990"/>
              <a:ext cx="58595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Luna</a:t>
              </a:r>
              <a:endParaRPr lang="zh-CN" sz="18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84885" y="25455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速度优先</a:t>
              </a:r>
              <a:endPara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260092" y="2235518"/>
              <a:ext cx="33149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高频日常任务 · 批量处理 · 低时延体验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261235" y="252650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A7B8CA"/>
                  </a:solidFill>
                  <a:latin typeface="+mn-lt"/>
                  <a:ea typeface="+mn-ea"/>
                  <a:cs typeface="+mn-cs"/>
                </a:rPr>
                <a:t>当成本与吞吐是第一约束</a:t>
              </a:r>
              <a:endParaRPr lang="zh-CN" sz="1120" dirty="0">
                <a:solidFill>
                  <a:srgbClr val="A7B8C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85800" y="3105150"/>
              <a:ext cx="7448550" cy="876300"/>
            </a:xfrm>
            <a:prstGeom prst="roundRect">
              <a:avLst>
                <a:gd name="adj" fmla="val 8696"/>
              </a:avLst>
            </a:prstGeom>
            <a:solidFill>
              <a:schemeClr val="accent5"/>
            </a:solidFill>
            <a:ln w="9525">
              <a:solidFill>
                <a:schemeClr val="accent3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685800" y="3105150"/>
              <a:ext cx="1257300" cy="876300"/>
            </a:xfrm>
            <a:prstGeom prst="roundRect">
              <a:avLst>
                <a:gd name="adj" fmla="val 8696"/>
              </a:avLst>
            </a:prstGeom>
            <a:solidFill>
              <a:schemeClr val="accent3">
                <a:alpha val="16000"/>
              </a:schemeClr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81456" y="3291840"/>
              <a:ext cx="7258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Terra</a:t>
              </a:r>
              <a:endParaRPr lang="zh-CN" sz="180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84885" y="36314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均衡主力</a:t>
              </a:r>
              <a:endPara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260092" y="3321368"/>
              <a:ext cx="33149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日常知识工作 · 常规编码 · 规模化落地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261235" y="3612356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A7B8CA"/>
                  </a:solidFill>
                  <a:latin typeface="+mn-lt"/>
                  <a:ea typeface="+mn-ea"/>
                  <a:cs typeface="+mn-cs"/>
                </a:rPr>
                <a:t>当质量、价格与响应时间需要平衡</a:t>
              </a:r>
              <a:endParaRPr lang="zh-CN" sz="1120" dirty="0">
                <a:solidFill>
                  <a:srgbClr val="A7B8C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85800" y="4191000"/>
              <a:ext cx="7448550" cy="1009650"/>
            </a:xfrm>
            <a:prstGeom prst="roundRect">
              <a:avLst>
                <a:gd name="adj" fmla="val 7547"/>
              </a:avLst>
            </a:prstGeom>
            <a:solidFill>
              <a:schemeClr val="accent5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85800" y="4191000"/>
              <a:ext cx="1257300" cy="1009650"/>
            </a:xfrm>
            <a:prstGeom prst="roundRect">
              <a:avLst>
                <a:gd name="adj" fmla="val 7547"/>
              </a:avLst>
            </a:prstGeom>
            <a:solidFill>
              <a:schemeClr val="accent1">
                <a:alpha val="16000"/>
              </a:scheme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81456" y="4415790"/>
              <a:ext cx="3812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Sol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84885" y="47744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能力优先</a:t>
              </a:r>
              <a:endPara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260092" y="4445318"/>
              <a:ext cx="31241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高难专业任务 · 长时工程 · 关键交付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261235" y="4774406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A7B8CA"/>
                  </a:solidFill>
                  <a:latin typeface="+mn-lt"/>
                  <a:ea typeface="+mn-ea"/>
                  <a:cs typeface="+mn-cs"/>
                </a:rPr>
                <a:t>当失败成本高、需要深度推理与验证</a:t>
              </a:r>
              <a:endParaRPr lang="zh-CN" sz="1120" dirty="0">
                <a:solidFill>
                  <a:srgbClr val="A7B8CA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698992" y="1606868"/>
            <a:ext cx="2060534" cy="3349466"/>
            <a:chOff x="8698992" y="1606868"/>
            <a:chExt cx="2060534" cy="3349466"/>
          </a:xfrm>
        </p:grpSpPr>
        <p:sp>
          <p:nvSpPr>
            <p:cNvPr id="25" name="TextBox 25"/>
            <p:cNvSpPr txBox="1"/>
            <p:nvPr/>
          </p:nvSpPr>
          <p:spPr>
            <a:xfrm>
              <a:off x="8698992" y="16068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7B8CA"/>
                  </a:solidFill>
                  <a:latin typeface="+mn-lt"/>
                  <a:ea typeface="+mn-ea"/>
                  <a:cs typeface="+mn-cs"/>
                </a:rPr>
                <a:t>推理强度</a:t>
              </a:r>
              <a:endParaRPr lang="zh-CN" sz="1350" dirty="0">
                <a:solidFill>
                  <a:srgbClr val="A7B8C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Freeform 26"/>
            <p:cNvSpPr/>
            <p:nvPr/>
          </p:nvSpPr>
          <p:spPr>
            <a:xfrm>
              <a:off x="9105900" y="2209800"/>
              <a:ext cx="9525" cy="2552700"/>
            </a:xfrm>
            <a:custGeom>
              <a:avLst/>
              <a:gdLst/>
              <a:ahLst/>
              <a:cxnLst/>
              <a:rect l="l" t="t" r="r" b="b"/>
              <a:pathLst>
                <a:path w="9525" h="2552700">
                  <a:moveTo>
                    <a:pt x="0" y="2552700"/>
                  </a:moveTo>
                  <a:lnTo>
                    <a:pt x="0" y="0"/>
                  </a:lnTo>
                </a:path>
              </a:pathLst>
            </a:custGeom>
            <a:noFill/>
            <a:ln w="76200">
              <a:solidFill>
                <a:schemeClr val="accent6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8934450" y="4343400"/>
              <a:ext cx="342900" cy="342900"/>
            </a:xfrm>
            <a:prstGeom prst="ellipse">
              <a:avLst/>
            </a:prstGeom>
            <a:solidFill>
              <a:schemeClr val="accent5"/>
            </a:solidFill>
            <a:ln w="19050">
              <a:solidFill>
                <a:schemeClr val="dk1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8934450" y="3219450"/>
              <a:ext cx="342900" cy="342900"/>
            </a:xfrm>
            <a:prstGeom prst="ellipse">
              <a:avLst/>
            </a:prstGeom>
            <a:solidFill>
              <a:schemeClr val="accent5"/>
            </a:solidFill>
            <a:ln w="19050">
              <a:solidFill>
                <a:schemeClr val="accent3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8934450" y="2095500"/>
              <a:ext cx="342900" cy="342900"/>
            </a:xfrm>
            <a:prstGeom prst="ellipse">
              <a:avLst/>
            </a:prstGeom>
            <a:solidFill>
              <a:schemeClr val="accent5"/>
            </a:solidFill>
            <a:ln w="28575">
              <a:solidFill>
                <a:schemeClr val="accent2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515856" y="4377690"/>
              <a:ext cx="9342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default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519285" y="473630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A7B8CA"/>
                  </a:solidFill>
                  <a:latin typeface="+mn-lt"/>
                  <a:ea typeface="+mn-ea"/>
                  <a:cs typeface="+mn-cs"/>
                </a:rPr>
                <a:t>先从这里开始</a:t>
              </a:r>
              <a:endParaRPr lang="zh-CN" sz="1120" dirty="0">
                <a:solidFill>
                  <a:srgbClr val="A7B8C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515856" y="3253740"/>
              <a:ext cx="48898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max</a:t>
              </a:r>
              <a:endParaRPr lang="zh-CN" sz="180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519285" y="3612356"/>
              <a:ext cx="1240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A7B8CA"/>
                  </a:solidFill>
                  <a:latin typeface="+mn-lt"/>
                  <a:ea typeface="+mn-ea"/>
                  <a:cs typeface="+mn-cs"/>
                </a:rPr>
                <a:t>高风险 / 高复杂度</a:t>
              </a:r>
              <a:endParaRPr lang="zh-CN" sz="1120" dirty="0">
                <a:solidFill>
                  <a:srgbClr val="A7B8C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515856" y="2129790"/>
              <a:ext cx="6543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ultra</a:t>
              </a:r>
              <a:endParaRPr lang="zh-CN" sz="18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519285" y="248840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A7B8CA"/>
                  </a:solidFill>
                  <a:latin typeface="+mn-lt"/>
                  <a:ea typeface="+mn-ea"/>
                  <a:cs typeface="+mn-cs"/>
                </a:rPr>
                <a:t>可拆分的艰巨工作</a:t>
              </a:r>
              <a:endParaRPr lang="zh-CN" sz="1120" dirty="0">
                <a:solidFill>
                  <a:srgbClr val="A7B8CA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85800" y="5543550"/>
            <a:ext cx="10820400" cy="576834"/>
            <a:chOff x="685800" y="5543550"/>
            <a:chExt cx="10820400" cy="576834"/>
          </a:xfrm>
        </p:grpSpPr>
        <p:sp>
          <p:nvSpPr>
            <p:cNvPr id="37" name="Freeform 37"/>
            <p:cNvSpPr/>
            <p:nvPr/>
          </p:nvSpPr>
          <p:spPr>
            <a:xfrm>
              <a:off x="685800" y="55435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990504" y="5768340"/>
              <a:ext cx="82109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试用判断的核心，不是“谁最强”，而是“哪条能力路径最适合这项工作”。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80085" y="6231731"/>
            <a:ext cx="10831830" cy="220028"/>
            <a:chOff x="680085" y="6231731"/>
            <a:chExt cx="10831830" cy="220028"/>
          </a:xfrm>
        </p:grpSpPr>
        <p:sp>
          <p:nvSpPr>
            <p:cNvPr id="40" name="TextBox 40"/>
            <p:cNvSpPr txBox="1"/>
            <p:nvPr/>
          </p:nvSpPr>
          <p:spPr>
            <a:xfrm>
              <a:off x="680085" y="6231731"/>
              <a:ext cx="45346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A7B8CA"/>
                  </a:solidFill>
                  <a:latin typeface="+mn-lt"/>
                  <a:ea typeface="+mn-ea"/>
                  <a:cs typeface="+mn-cs"/>
                </a:rPr>
                <a:t>建议：从代表性真实任务建立质量、时延、成本与安全的四维基线。</a:t>
              </a:r>
              <a:endParaRPr lang="zh-CN" sz="1120" dirty="0">
                <a:solidFill>
                  <a:srgbClr val="A7B8C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995391" y="6231731"/>
              <a:ext cx="516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A7B8CA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12 / 12</a:t>
              </a:r>
              <a:endParaRPr lang="zh-CN" sz="1120" dirty="0">
                <a:solidFill>
                  <a:srgbClr val="A7B8CA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penAI_GPT-5.6_发布公告_中文版_2026-07-09">
  <a:themeElements>
    <a:clrScheme name="OpenAI_GPT-5.6_发布公告_中文版_2026-07-09">
      <a:dk1>
        <a:srgbClr val="EAF2FF"/>
      </a:dk1>
      <a:lt1>
        <a:srgbClr val="07111F"/>
      </a:lt1>
      <a:dk2>
        <a:srgbClr val="1F497D"/>
      </a:dk2>
      <a:lt2>
        <a:srgbClr val="0D1B2A"/>
      </a:lt2>
      <a:accent1>
        <a:srgbClr val="49B9FF"/>
      </a:accent1>
      <a:accent2>
        <a:srgbClr val="B7F34A"/>
      </a:accent2>
      <a:accent3>
        <a:srgbClr val="7A8FFF"/>
      </a:accent3>
      <a:accent4>
        <a:srgbClr val="49B9FF"/>
      </a:accent4>
      <a:accent5>
        <a:srgbClr val="122439"/>
      </a:accent5>
      <a:accent6>
        <a:srgbClr val="294056"/>
      </a:accent6>
      <a:hlink>
        <a:srgbClr val="B7F34A"/>
      </a:hlink>
      <a:folHlink>
        <a:srgbClr val="7A8FFF"/>
      </a:folHlink>
    </a:clrScheme>
    <a:fontScheme name="OpenAI_GPT-5.6_发布公告_中文版_2026-07-09">
      <a:maj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penAI_GPT-5.6_发布公告_中文版_2026-07-0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penAI_GPT-5.6_发布公告_中文版_2026-07-09">
  <a:themeElements>
    <a:clrScheme name="OpenAI_GPT-5.6_发布公告_中文版_2026-07-09">
      <a:dk1>
        <a:srgbClr val="EAF2FF"/>
      </a:dk1>
      <a:lt1>
        <a:srgbClr val="07111F"/>
      </a:lt1>
      <a:dk2>
        <a:srgbClr val="1F497D"/>
      </a:dk2>
      <a:lt2>
        <a:srgbClr val="0D1B2A"/>
      </a:lt2>
      <a:accent1>
        <a:srgbClr val="49B9FF"/>
      </a:accent1>
      <a:accent2>
        <a:srgbClr val="B7F34A"/>
      </a:accent2>
      <a:accent3>
        <a:srgbClr val="7A8FFF"/>
      </a:accent3>
      <a:accent4>
        <a:srgbClr val="49B9FF"/>
      </a:accent4>
      <a:accent5>
        <a:srgbClr val="122439"/>
      </a:accent5>
      <a:accent6>
        <a:srgbClr val="294056"/>
      </a:accent6>
      <a:hlink>
        <a:srgbClr val="B7F34A"/>
      </a:hlink>
      <a:folHlink>
        <a:srgbClr val="7A8FFF"/>
      </a:folHlink>
    </a:clrScheme>
    <a:fontScheme name="OpenAI_GPT-5.6_发布公告_中文版_2026-07-09">
      <a:maj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penAI_GPT-5.6_发布公告_中文版_2026-07-0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2903</Words>
  <Application>WPS 演示</Application>
  <PresentationFormat>On-screen Show (16:9)</PresentationFormat>
  <Paragraphs>542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宋体</vt:lpstr>
      <vt:lpstr>Wingdings</vt:lpstr>
      <vt:lpstr>Arial</vt:lpstr>
      <vt:lpstr>Consolas</vt:lpstr>
      <vt:lpstr>Segoe UI</vt:lpstr>
      <vt:lpstr>微软雅黑</vt:lpstr>
      <vt:lpstr>Arial Unicode MS</vt:lpstr>
      <vt:lpstr>OpenAI_GPT-5.6_发布公告_中文版_2026-07-09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?</cp:lastModifiedBy>
  <cp:revision>2</cp:revision>
  <dcterms:created xsi:type="dcterms:W3CDTF">2026-08-16T15:58:00Z</dcterms:created>
  <dcterms:modified xsi:type="dcterms:W3CDTF">2026-08-17T12:00:50Z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33E7C63F98F640A788D7A931B567A252_12</vt:lpwstr>
  </property>
  <property fmtid="{D5CDD505-2E9C-101B-9397-08002B2CF9AE}" pid="3" name="KSOProductBuildVer">
    <vt:lpwstr>2052-12.1.0.28043</vt:lpwstr>
  </property>
</Properties>
</file>