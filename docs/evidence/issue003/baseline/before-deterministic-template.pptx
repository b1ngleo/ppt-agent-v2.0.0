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5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5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1.xlsx"/>
</Relationships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576923076923"/>
          <c:y val="0.119047619048"/>
          <c:w val="0.903846153846"/>
          <c:h val="0.78571428571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1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3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4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Sol</c:v>
                </c:pt>
                <c:pt idx="1">
                  <c:v>Sol Ultra</c:v>
                </c:pt>
                <c:pt idx="2">
                  <c:v>Terra</c:v>
                </c:pt>
                <c:pt idx="3">
                  <c:v>Luna</c:v>
                </c:pt>
                <c:pt idx="4">
                  <c:v>GPT-5.5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88.8</c:v>
                </c:pt>
                <c:pt idx="1">
                  <c:v>91.9</c:v>
                </c:pt>
                <c:pt idx="2">
                  <c:v>87.4</c:v>
                </c:pt>
                <c:pt idx="3">
                  <c:v>84.7</c:v>
                </c:pt>
                <c:pt idx="4">
                  <c:v>85.6</c:v>
                </c:pt>
              </c:numCache>
            </c:numRef>
          </c:val>
        </c:ser>
        <c:dLbls>
          <c:txPr>
            <a:bodyPr/>
            <a:lstStyle/>
            <a:p>
              <a:pPr>
                <a:defRPr lang="zh-CN" sz="1200">
                  <a:solidFill>
                    <a:srgbClr val="1E293B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64748B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CBD5E1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64748B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majorUnit val="20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050">
          <a:solidFill>
            <a:srgbClr val="1E293B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ob-KVVXFTMF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ob-KVVXFTMF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501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052322" y="854392"/>
            <a:ext cx="10072878" cy="4060508"/>
            <a:chOff x="1052322" y="854392"/>
            <a:chExt cx="10072878" cy="4060508"/>
          </a:xfrm>
        </p:grpSpPr>
        <p:sp>
          <p:nvSpPr>
            <p:cNvPr id="3" name="TextBox 3"/>
            <p:cNvSpPr txBox="1"/>
            <p:nvPr/>
          </p:nvSpPr>
          <p:spPr>
            <a:xfrm>
              <a:off x="1052322" y="854392"/>
              <a:ext cx="42429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247900"/>
              <a:ext cx="10058400" cy="2667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13332" y="2668905"/>
              <a:ext cx="52785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__GPT\-5.6：随雄心扩展的前沿智能__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52322" y="854392"/>
            <a:ext cx="10072878" cy="4860608"/>
            <a:chOff x="1052322" y="854392"/>
            <a:chExt cx="10072878" cy="4860608"/>
          </a:xfrm>
        </p:grpSpPr>
        <p:sp>
          <p:nvSpPr>
            <p:cNvPr id="3" name="TextBox 3"/>
            <p:cNvSpPr txBox="1"/>
            <p:nvPr/>
          </p:nvSpPr>
          <p:spPr>
            <a:xfrm>
              <a:off x="1052322" y="854392"/>
              <a:ext cx="48135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官方公告中文译版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000250"/>
              <a:ext cx="10058400" cy="37147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81125" y="2333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87068" y="2298382"/>
              <a:ext cx="2654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OpenAI 官方公告中文译版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52322" y="854392"/>
            <a:ext cx="7558278" cy="3092959"/>
            <a:chOff x="1052322" y="854392"/>
            <a:chExt cx="7558278" cy="3092959"/>
          </a:xfrm>
        </p:grpSpPr>
        <p:sp>
          <p:nvSpPr>
            <p:cNvPr id="3" name="TextBox 3"/>
            <p:cNvSpPr txBox="1"/>
            <p:nvPr/>
          </p:nvSpPr>
          <p:spPr>
            <a:xfrm>
              <a:off x="1052322" y="854392"/>
              <a:ext cx="51854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发布日期：2026 年 7 月 9 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581400" y="32766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76200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924550" y="3105150"/>
              <a:ext cx="342900" cy="34290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96612" y="2727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00" b="1" dirty="0">
                  <a:solidFill>
                    <a:srgbClr val="9333E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26025" y="3683318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发布日期：2026 年 7 月 9 日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57656" y="967740"/>
            <a:ext cx="10067544" cy="4747260"/>
            <a:chOff x="1057656" y="967740"/>
            <a:chExt cx="10067544" cy="4747260"/>
          </a:xfrm>
        </p:grpSpPr>
        <p:sp>
          <p:nvSpPr>
            <p:cNvPr id="3" name="TextBox 3"/>
            <p:cNvSpPr txBox="1"/>
            <p:nvPr/>
          </p:nvSpPr>
          <p:spPr>
            <a:xfrm>
              <a:off x="1057656" y="967740"/>
              <a:ext cx="77445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原文：[GPT\-5.6: Frontier intelligence that scales with your…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000250"/>
              <a:ext cx="10058400" cy="37147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81125" y="2333625"/>
              <a:ext cx="133350" cy="13335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87068" y="2298382"/>
              <a:ext cx="6229922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原文：[GPT\-5.6: Frontier intelligence that scales with your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ambition](https://openai.com/index/gpt-5-6/)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48284" y="641985"/>
            <a:ext cx="10723739" cy="5073015"/>
            <a:chOff x="748284" y="641985"/>
            <a:chExt cx="10723739" cy="5073015"/>
          </a:xfrm>
        </p:grpSpPr>
        <p:sp>
          <p:nvSpPr>
            <p:cNvPr id="2" name="TextBox 2"/>
            <p:cNvSpPr txBox="1"/>
            <p:nvPr/>
          </p:nvSpPr>
          <p:spPr>
            <a:xfrm>
              <a:off x="748284" y="641985"/>
              <a:ext cx="107237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Terminal-Bench 2.1 中，Sol Ultra 达到 91.9%，领先 Sol 3%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4761" y="125587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对比结论直接来自已批准来源，未执行外部研究。</a:t>
              </a:r>
            </a:p>
          </p:txBody>
        </p:sp>
        <p:graphicFrame>
          <p:nvGraphicFramePr>
            <p:cNvPr id="4" name="throughput-comparison"/>
            <p:cNvGraphicFramePr>
              <a:graphicFrameLocks noGrp="1"/>
            </p:cNvGraphicFramePr>
            <p:nvPr/>
          </p:nvGraphicFramePr>
          <p:xfrm>
            <a:off x="1143000" y="1714500"/>
            <a:ext cx="9906000" cy="40005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5" name="Chart Source 5"/>
            <p:cNvSpPr txBox="1"/>
            <p:nvPr/>
          </p:nvSpPr>
          <p:spPr>
            <a:xfrm>
              <a:off x="1333500" y="5753100"/>
              <a:ext cx="8572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/>
              <a:r>
                <a:rPr lang="zh-CN" sz="1120">
                  <a:solidFill>
                    <a:srgbClr val="64748B"/>
                  </a:solidFill>
                  <a:latin typeface="Microsoft YaHei"/>
                  <a:ea typeface="Microsoft YaHei"/>
                  <a:cs typeface="Microsoft YaHei"/>
                </a:rPr>
                <a:t>来源：已批准的不可变来源片段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163183" y="631745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58037" y="975836"/>
            <a:ext cx="10067163" cy="2529364"/>
            <a:chOff x="1058037" y="975836"/>
            <a:chExt cx="10067163" cy="2529364"/>
          </a:xfrm>
        </p:grpSpPr>
        <p:sp>
          <p:nvSpPr>
            <p:cNvPr id="3" name="TextBox 3"/>
            <p:cNvSpPr txBox="1"/>
            <p:nvPr/>
          </p:nvSpPr>
          <p:spPr>
            <a:xfrm>
              <a:off x="1058037" y="975836"/>
              <a:ext cx="985188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__每个 token 带来更多智能，每一美元获得更强性能，并为最艰巨的工作按需提供更强能力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057400"/>
              <a:ext cx="10058400" cy="1447800"/>
            </a:xfrm>
            <a:prstGeom prst="roundRect">
              <a:avLst>
                <a:gd name="adj" fmla="val 14474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27404" y="23469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25880" y="2619375"/>
              <a:ext cx="8385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__每个 token 带来更多智能，每一美元获得更强性能，并为最艰巨的工作按需提供更强能力。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057656" y="967740"/>
            <a:ext cx="10067544" cy="4747260"/>
            <a:chOff x="1057656" y="967740"/>
            <a:chExt cx="10067544" cy="4747260"/>
          </a:xfrm>
        </p:grpSpPr>
        <p:sp>
          <p:nvSpPr>
            <p:cNvPr id="3" name="TextBox 3"/>
            <p:cNvSpPr txBox="1"/>
            <p:nvPr/>
          </p:nvSpPr>
          <p:spPr>
            <a:xfrm>
              <a:off x="1057656" y="967740"/>
              <a:ext cx="86049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__2026 年 7 月 30 日更新：__OpenAI 将 GPT\-5.6 Luna 的价格下调 80%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000250"/>
              <a:ext cx="10058400" cy="37147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81125" y="2333625"/>
              <a:ext cx="133350" cy="133350"/>
            </a:xfrm>
            <a:prstGeom prst="ellipse">
              <a:avLst/>
            </a:prstGeom>
            <a:solidFill>
              <a:srgbClr val="9333E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87068" y="2298382"/>
              <a:ext cx="7298626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__2026 年 7 月 30 日更新：__OpenAI 将 GPT\-5.6 Luna 的价格下调 80%，将</a:t>
              </a:r>
              <a:br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GPT\-5.6 Terra 的价格下调 20%。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57656" y="967740"/>
            <a:ext cx="10067544" cy="2023110"/>
            <a:chOff x="1057656" y="967740"/>
            <a:chExt cx="10067544" cy="2023110"/>
          </a:xfrm>
        </p:grpSpPr>
        <p:sp>
          <p:nvSpPr>
            <p:cNvPr id="3" name="TextBox 3"/>
            <p:cNvSpPr txBox="1"/>
            <p:nvPr/>
          </p:nvSpPr>
          <p:spPr>
            <a:xfrm>
              <a:off x="1057656" y="967740"/>
              <a:ext cx="9788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本文“可用性与定价”部分保留 7 月 9 日首发时的原始价格，以便还原公告发布时的内容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152650"/>
              <a:ext cx="1562100" cy="838200"/>
            </a:xfrm>
            <a:prstGeom prst="roundRect">
              <a:avLst>
                <a:gd name="adj" fmla="val 18182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60444" y="25103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857500" y="2152650"/>
              <a:ext cx="8267700" cy="8382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117342" y="2273618"/>
              <a:ext cx="7174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本文“可用性与定价”部分保留 7 月 9 日首发时的原始价格，以便还原公告发布时的内容。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59942" y="1016318"/>
            <a:ext cx="10065258" cy="1974532"/>
            <a:chOff x="1059942" y="1016318"/>
            <a:chExt cx="10065258" cy="1974532"/>
          </a:xfrm>
        </p:grpSpPr>
        <p:sp>
          <p:nvSpPr>
            <p:cNvPr id="3" name="TextBox 3"/>
            <p:cNvSpPr txBox="1"/>
            <p:nvPr/>
          </p:nvSpPr>
          <p:spPr>
            <a:xfrm>
              <a:off x="1059942" y="1016318"/>
              <a:ext cx="9751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在有限预览之后，我们正式全面推出 GPT\-5.6 模型家族：全新旗舰模型 Sol、适合日常工作的均衡型模型 Terra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152650"/>
              <a:ext cx="1562100" cy="838200"/>
            </a:xfrm>
            <a:prstGeom prst="roundRect">
              <a:avLst>
                <a:gd name="adj" fmla="val 1818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60444" y="25103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857500" y="2152650"/>
              <a:ext cx="8267700" cy="8382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117342" y="2273618"/>
              <a:ext cx="566299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在有限预览之后，我们正式全面推出 GPT\-5.6 模型家族：全新旗舰模型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Sol、适合日常工作的均衡型模型 Terra，以及成本效率最高的模型 Luna。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85800" y="647700"/>
            <a:ext cx="114300" cy="838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59180" y="1000125"/>
            <a:ext cx="10224516" cy="4173664"/>
            <a:chOff x="1059180" y="1000125"/>
            <a:chExt cx="10224516" cy="4173664"/>
          </a:xfrm>
        </p:grpSpPr>
        <p:sp>
          <p:nvSpPr>
            <p:cNvPr id="3" name="TextBox 3"/>
            <p:cNvSpPr txBox="1"/>
            <p:nvPr/>
          </p:nvSpPr>
          <p:spPr>
            <a:xfrm>
              <a:off x="1059180" y="1000125"/>
              <a:ext cx="10224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GPT\-5.6 Sol 为智能与效率树立了新标准：它在编码、知识工作、网络安全和科学领域取得最先进的成绩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9942" y="1359218"/>
              <a:ext cx="191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66800" y="2247900"/>
              <a:ext cx="10058400" cy="1257300"/>
            </a:xfrm>
            <a:prstGeom prst="roundRect">
              <a:avLst>
                <a:gd name="adj" fmla="val 1969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38656" y="2586990"/>
              <a:ext cx="7795260" cy="961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结论：GPT\-5.6 Sol 为智能与效率树立了新标准：它在编码、知识工作、</a:t>
              </a:r>
              <a:br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网络安全和科学领域取得最先进的成绩，同时以更少的</a:t>
              </a:r>
              <a:br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token、更低的预估成本超越此前及其他前沿模型。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66800" y="3886200"/>
              <a:ext cx="8382000" cy="1257300"/>
            </a:xfrm>
            <a:prstGeom prst="roundRect">
              <a:avLst>
                <a:gd name="adj" fmla="val 19697"/>
              </a:avLst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39418" y="4241482"/>
              <a:ext cx="5517452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行动：基于官方公告材料，系统梳理 GPT 5.6</a:t>
              </a:r>
              <a:br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的核心能力、关键更新点与发布时间线，</a:t>
              </a:r>
              <a:br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帮助团队快速理解新特性并评估其对现有业务的潜在影响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941406" y="623316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ob-KVVXFTMF">
  <a:themeElements>
    <a:clrScheme name="job-KVVXFTMF">
      <a:dk1>
        <a:srgbClr val="1E293B"/>
      </a:dk1>
      <a:lt1>
        <a:srgbClr val="F8FAFC"/>
      </a:lt1>
      <a:dk2>
        <a:srgbClr val="1F497D"/>
      </a:dk2>
      <a:lt2>
        <a:srgbClr val="F8FAFC"/>
      </a:lt2>
      <a:accent1>
        <a:srgbClr val="0F172A"/>
      </a:accent1>
      <a:accent2>
        <a:srgbClr val="2563EB"/>
      </a:accent2>
      <a:accent3>
        <a:srgbClr val="0F766E"/>
      </a:accent3>
      <a:accent4>
        <a:srgbClr val="0F172A"/>
      </a:accent4>
      <a:accent5>
        <a:srgbClr val="E2E8F0"/>
      </a:accent5>
      <a:accent6>
        <a:srgbClr val="F79646"/>
      </a:accent6>
      <a:hlink>
        <a:srgbClr val="2563EB"/>
      </a:hlink>
      <a:folHlink>
        <a:srgbClr val="0F766E"/>
      </a:folHlink>
    </a:clrScheme>
    <a:fontScheme name="job-KVVXFTMF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b-KVVXFTMF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2026-08-16T00:00:00Z</dcterms:created>
  <dcterms:modified xsi:type="dcterms:W3CDTF">2026-08-16T00:00:00Z</dcterms:modified>
  <cp:category/>
  <cp:contentStatus/>
</cp:coreProperties>
</file>