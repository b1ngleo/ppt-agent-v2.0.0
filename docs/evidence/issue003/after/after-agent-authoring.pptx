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5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5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501.xlsx"/>
</Relationships>
</file>

<file path=ppt/charts/chart5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717948717949"/>
          <c:y val="0.0975609756098"/>
          <c:w val="0.876923076923"/>
          <c:h val="0.7658536585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Sol</c:v>
                </c:pt>
                <c:pt idx="1">
                  <c:v>Sol Ultra</c:v>
                </c:pt>
                <c:pt idx="2">
                  <c:v>Terra</c:v>
                </c:pt>
                <c:pt idx="3">
                  <c:v>Luna</c:v>
                </c:pt>
                <c:pt idx="4">
                  <c:v>GPT-5.5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88.8</c:v>
                </c:pt>
                <c:pt idx="1">
                  <c:v>91.9</c:v>
                </c:pt>
                <c:pt idx="2">
                  <c:v>87.4</c:v>
                </c:pt>
                <c:pt idx="3">
                  <c:v>84.7</c:v>
                </c:pt>
                <c:pt idx="4">
                  <c:v>85.6</c:v>
                </c:pt>
              </c:numCache>
            </c:numRef>
          </c:val>
        </c:ser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CBD5E1"/>
            </a:solidFill>
            <a:round/>
          </a:ln>
        </c:spPr>
        <c:txPr>
          <a:bodyPr/>
          <a:lstStyle/>
          <a:p>
            <a:pPr>
              <a:defRPr lang="zh-CN" sz="1050">
                <a:solidFill>
                  <a:schemeClr val="accent1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9DED8"/>
              </a:solidFill>
              <a:round/>
            </a:ln>
          </c:spPr>
        </c:majorGridlines>
        <c:majorTickMark val="out"/>
        <c:minorTickMark val="none"/>
        <c:tickLblPos val="nextTo"/>
        <c:spPr>
          <a:ln w="9525" cap="flat" cmpd="sng" algn="ctr">
            <a:solidFill>
              <a:srgbClr val="CBD5E1"/>
            </a:solidFill>
            <a:round/>
          </a:ln>
        </c:spPr>
        <c:txPr>
          <a:bodyPr/>
          <a:lstStyle/>
          <a:p>
            <a:pPr>
              <a:defRPr lang="zh-CN" sz="1050">
                <a:solidFill>
                  <a:schemeClr val="accent1"/>
                </a:solidFill>
                <a:latin typeface="Arial"/>
                <a:ea typeface="Microsoft YaHei"/>
                <a:cs typeface="Arial"/>
              </a:defRPr>
            </a:pPr>
            <a:endParaRPr lang="zh-CN"/>
          </a:p>
        </c:txPr>
        <c:crossAx val="2068027336"/>
        <c:crosses val="autoZero"/>
      </c:valAx>
      <c:spPr>
        <a:noFill/>
        <a:ln>
          <a:noFill/>
        </a:ln>
      </c:spPr>
    </c:plotArea>
    <c:plotVisOnly val="1"/>
    <c:dispBlanksAs val="gap"/>
  </c:chart>
  <c:spPr>
    <a:solidFill>
      <a:srgbClr val="FFFFFF"/>
    </a:solidFill>
    <a:ln>
      <a:noFill/>
    </a:ln>
  </c:spPr>
  <c:txPr>
    <a:bodyPr/>
    <a:lstStyle/>
    <a:p>
      <a:pPr>
        <a:defRPr lang="zh-CN" sz="1050">
          <a:solidFill>
            <a:schemeClr val="accent1"/>
          </a:solidFill>
          <a:latin typeface="Arial"/>
          <a:ea typeface="Microsoft YaHei"/>
          <a:cs typeface="Arial"/>
        </a:defRPr>
      </a:pPr>
      <a:endParaRPr lang="zh-CN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gent-candida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gent-candidat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chart" Target="../charts/chart501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585109"/>
            <a:chOff x="0" y="0"/>
            <a:chExt cx="12192000" cy="658510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383381"/>
              <a:ext cx="9732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P01 · COVER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68274" y="789622"/>
              <a:ext cx="513617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4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GPT 5.6 官方公告解读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2095500"/>
              <a:ext cx="10820400" cy="34290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85800" y="2095500"/>
              <a:ext cx="171450" cy="3429000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7963" y="2705576"/>
              <a:ext cx="8909685" cy="10389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531"/>
                </a:lnSpc>
              </a:pPr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基于官方公告材料，系统梳理 GPT 5.6 的核心能力、</a:t>
              </a:r>
              <a:br/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关键更新点与发布时间线，帮助团队快速理解新特性并评估其对现有业务的</a:t>
              </a:r>
              <a:br/>
              <a:r>
                <a:rPr lang="zh-CN" sz="20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潜在影响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0085" y="636508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依据：已批准官方材料（封闭语料）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585109"/>
            <a:chOff x="0" y="0"/>
            <a:chExt cx="12192000" cy="658510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383381"/>
              <a:ext cx="1157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P02 · CONTENT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1322" y="778192"/>
              <a:ext cx="365460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公告概览与解读框架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2095500"/>
              <a:ext cx="10820400" cy="34290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85800" y="2095500"/>
              <a:ext cx="171450" cy="3429000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9106" y="2701290"/>
              <a:ext cx="8215312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在有限预览之后，我们正式全面推出 GPT-5.6 模型家族：全新旗舰模型 Sol、</a:t>
              </a:r>
              <a:br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适合日常工作的均衡型模型 Terra，以及成本效率最高的模型 Luna。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0085" y="636508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依据：已批准官方材料（封闭语料）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0" y="0"/>
            <a:ext cx="12192000" cy="6585109"/>
            <a:chOff x="0" y="0"/>
            <a:chExt cx="12192000" cy="658510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383381"/>
              <a:ext cx="1165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P03 · TIMELINE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1322" y="778192"/>
              <a:ext cx="40574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发布时间线与版本节奏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1143000" y="3905250"/>
              <a:ext cx="9906000" cy="38100"/>
            </a:xfrm>
            <a:prstGeom prst="rect">
              <a:avLst/>
            </a:prstGeom>
            <a:solidFill>
              <a:srgbClr val="94A3B8"/>
            </a:solidFill>
            <a:ln w="9525">
              <a:solidFill>
                <a:srgbClr val="94A3B8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143000" y="3638550"/>
              <a:ext cx="552450" cy="552450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rgbClr val="FFFFFF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6142" y="4502468"/>
              <a:ext cx="24562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发布日期：2026 年 7 月 9 日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4667250" y="3638550"/>
              <a:ext cx="552450" cy="552450"/>
            </a:xfrm>
            <a:prstGeom prst="ellipse">
              <a:avLst/>
            </a:prstGeom>
            <a:solidFill>
              <a:schemeClr val="accent3"/>
            </a:solidFill>
            <a:ln w="9525">
              <a:solidFill>
                <a:srgbClr val="FFFF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660392" y="4502468"/>
              <a:ext cx="2408015" cy="906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688"/>
                </a:lnSpc>
              </a:pPr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 年 7 月 30 日更新：</a:t>
              </a:r>
              <a:br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OpenAI 将 GPT-5.6 Luna</a:t>
              </a:r>
              <a:br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的价格下调 80%，将 GPT-5.6</a:t>
              </a:r>
              <a:br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Terra 的价格下调 20%。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191500" y="3638550"/>
              <a:ext cx="552450" cy="552450"/>
            </a:xfrm>
            <a:prstGeom prst="ellipse">
              <a:avLst/>
            </a:prstGeom>
            <a:solidFill>
              <a:schemeClr val="accent3"/>
            </a:solidFill>
            <a:ln w="9525">
              <a:solidFill>
                <a:srgbClr val="FFFF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84832" y="4501753"/>
              <a:ext cx="2633662" cy="10901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641"/>
                </a:lnSpc>
              </a:pPr>
              <a:r>
                <a:rPr lang="zh-CN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个人成员须在 9 月 1</a:t>
              </a:r>
              <a:br/>
              <a:r>
                <a:rPr lang="zh-CN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日前启用采用硬件支持通行密钥的</a:t>
              </a:r>
              <a:br/>
              <a:r>
                <a:rPr lang="zh-CN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高级账户安全功能，</a:t>
              </a:r>
              <a:br/>
              <a:r>
                <a:rPr lang="zh-CN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才能继续使用网络安全能力最强的</a:t>
              </a:r>
              <a:br/>
              <a:r>
                <a:rPr lang="zh-CN" sz="131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前沿模型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0085" y="636508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依据：已批准官方材料（封闭语料）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585109"/>
            <a:chOff x="0" y="0"/>
            <a:chExt cx="12192000" cy="658510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383381"/>
              <a:ext cx="1157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P04 · CONTENT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1322" y="778192"/>
              <a:ext cx="24460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核心能力解析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2095500"/>
              <a:ext cx="10820400" cy="34290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85800" y="2095500"/>
              <a:ext cx="171450" cy="3429000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9106" y="2701290"/>
              <a:ext cx="8275320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Responses API 中，程序化工具调用让 GPT-5.6 能在内存中编写并运行程序，</a:t>
              </a:r>
              <a:br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以协调工具、处理中间结果，并兼容零数据保留（ZDR）。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0085" y="636508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依据：已批准官方材料（封闭语料）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585109"/>
            <a:chOff x="0" y="0"/>
            <a:chExt cx="12192000" cy="658510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383381"/>
              <a:ext cx="847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P05 · DATA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1322" y="778192"/>
              <a:ext cx="5482638" cy="1009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3562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Terminal-Bench 2.1 中，Sol</a:t>
              </a:r>
              <a:br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Ultra 达到 91.9%，领先 Sol 3%</a:t>
              </a:r>
            </a:p>
          </p:txBody>
        </p:sp>
        <p:graphicFrame>
          <p:nvGraphicFramePr>
            <p:cNvPr id="5" name="throughput-comparison"/>
            <p:cNvGraphicFramePr>
              <a:graphicFrameLocks noGrp="1"/>
            </p:cNvGraphicFramePr>
            <p:nvPr/>
          </p:nvGraphicFramePr>
          <p:xfrm>
            <a:off x="685800" y="2000250"/>
            <a:ext cx="7429500" cy="390525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6" name="Chart Source 6"/>
            <p:cNvSpPr txBox="1"/>
            <p:nvPr/>
          </p:nvSpPr>
          <p:spPr>
            <a:xfrm>
              <a:off x="685800" y="5943600"/>
              <a:ext cx="7429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/>
              <a:r>
                <a:rPr lang="zh-CN" sz="105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Terminal-Bench 2.1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420100" y="2000250"/>
              <a:ext cx="3086100" cy="3905250"/>
            </a:xfrm>
            <a:prstGeom prst="roundRect">
              <a:avLst>
                <a:gd name="adj" fmla="val 6173"/>
              </a:avLst>
            </a:prstGeom>
            <a:solidFill>
              <a:srgbClr val="E0F2FE"/>
            </a:solidFill>
            <a:ln w="9525">
              <a:solidFill>
                <a:srgbClr val="7DD3F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719185" y="2364581"/>
              <a:ext cx="1107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rgbClr val="0369A1"/>
                  </a:solidFill>
                  <a:latin typeface="+mn-lt"/>
                  <a:ea typeface="+mn-ea"/>
                  <a:cs typeface="+mn-cs"/>
                </a:rPr>
                <a:t>KEY TAKEAWAY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16899" y="2811304"/>
              <a:ext cx="2333625" cy="558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969"/>
                </a:lnSpc>
              </a:pPr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对比结论直接来自已批准</a:t>
              </a:r>
              <a:br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来源，未执行外部研究。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0085" y="636508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依据：已批准官方材料（封闭语料）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6585109"/>
            <a:chOff x="0" y="0"/>
            <a:chExt cx="12192000" cy="658510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383381"/>
              <a:ext cx="14583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P06 · COMPARISON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1322" y="778192"/>
              <a:ext cx="40574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与前代及同类模型对比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2095500"/>
              <a:ext cx="5105400" cy="36195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0" y="2095500"/>
              <a:ext cx="5410200" cy="3619500"/>
            </a:xfrm>
            <a:prstGeom prst="roundRect">
              <a:avLst>
                <a:gd name="adj" fmla="val 5263"/>
              </a:avLst>
            </a:prstGeom>
            <a:solidFill>
              <a:srgbClr val="ECFDF5"/>
            </a:solidFill>
            <a:ln w="9525">
              <a:solidFill>
                <a:srgbClr val="99F6E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7275" y="2607469"/>
              <a:ext cx="4030218" cy="2152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344"/>
                </a:lnSpc>
              </a:pPr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GPT-5.6 Sol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为智能与效率树立了新标准：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它在编码、知识工作、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网络安全和科学领域取得最先进的成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绩，同时以更少的 token、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更低的预估成本超越此前及其他前沿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67475" y="2607469"/>
              <a:ext cx="4280916" cy="664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344"/>
                </a:lnSpc>
              </a:pPr>
              <a:r>
                <a:rPr lang="zh-CN" sz="1880" b="1" dirty="0">
                  <a:solidFill>
                    <a:srgbClr val="115E59"/>
                  </a:solidFill>
                  <a:latin typeface="+mn-lt"/>
                  <a:ea typeface="+mn-ea"/>
                  <a:cs typeface="+mn-cs"/>
                </a:rPr>
                <a:t>对比口径：仅呈现已批准的官方材料；</a:t>
              </a:r>
              <a:br/>
              <a:r>
                <a:rPr lang="zh-CN" sz="1880" b="1" dirty="0">
                  <a:solidFill>
                    <a:srgbClr val="115E59"/>
                  </a:solidFill>
                  <a:latin typeface="+mn-lt"/>
                  <a:ea typeface="+mn-ea"/>
                  <a:cs typeface="+mn-cs"/>
                </a:rPr>
                <a:t>未提供的数据不作推断。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0085" y="636508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依据：已批准官方材料（封闭语料）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585109"/>
            <a:chOff x="0" y="0"/>
            <a:chExt cx="12192000" cy="658510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383381"/>
              <a:ext cx="1157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P07 · CONTENT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1322" y="778192"/>
              <a:ext cx="446031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定价、可用性与接入方式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2095500"/>
              <a:ext cx="10820400" cy="34290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85800" y="2095500"/>
              <a:ext cx="171450" cy="3429000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9106" y="2701290"/>
              <a:ext cx="7699248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2026 年 7 月 30 日更新：OpenAI 将 GPT-5.6 Luna 的价格下调 80%，将</a:t>
              </a:r>
              <a:br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GPT-5.6 Terra 的价格下调 20%。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80085" y="636508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依据：已批准官方材料（封闭语料）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6585109"/>
            <a:chOff x="0" y="0"/>
            <a:chExt cx="12192000" cy="658510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383381"/>
              <a:ext cx="1441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P08 · RISK_ACTION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1322" y="778192"/>
              <a:ext cx="40574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对现有业务的潜在影响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2095500"/>
              <a:ext cx="5105400" cy="36195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0" y="2095500"/>
              <a:ext cx="5410200" cy="3619500"/>
            </a:xfrm>
            <a:prstGeom prst="roundRect">
              <a:avLst>
                <a:gd name="adj" fmla="val 5263"/>
              </a:avLst>
            </a:prstGeom>
            <a:solidFill>
              <a:srgbClr val="ECFDF5"/>
            </a:solidFill>
            <a:ln w="9525">
              <a:solidFill>
                <a:srgbClr val="99F6E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7275" y="2607469"/>
              <a:ext cx="4030218" cy="1854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344"/>
                </a:lnSpc>
              </a:pPr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随着模型能力不断增强，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安全工作仍将继续：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新的薄弱点与绕过现有防护的新越狱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方式都会被发现，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每一代新模型也可能带来新的攻击和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滥用途径。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67475" y="2607469"/>
              <a:ext cx="4280916" cy="664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344"/>
                </a:lnSpc>
              </a:pPr>
              <a:r>
                <a:rPr lang="zh-CN" sz="1880" b="1" dirty="0">
                  <a:solidFill>
                    <a:srgbClr val="115E59"/>
                  </a:solidFill>
                  <a:latin typeface="+mn-lt"/>
                  <a:ea typeface="+mn-ea"/>
                  <a:cs typeface="+mn-cs"/>
                </a:rPr>
                <a:t>建议：先在受控范围复核本页披露的能</a:t>
              </a:r>
              <a:br/>
              <a:r>
                <a:rPr lang="zh-CN" sz="1880" b="1" dirty="0">
                  <a:solidFill>
                    <a:srgbClr val="115E59"/>
                  </a:solidFill>
                  <a:latin typeface="+mn-lt"/>
                  <a:ea typeface="+mn-ea"/>
                  <a:cs typeface="+mn-cs"/>
                </a:rPr>
                <a:t>力与安全边界，再决定接入节奏。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0085" y="636508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依据：已批准官方材料（封闭语料）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6585109"/>
            <a:chOff x="0" y="0"/>
            <a:chExt cx="12192000" cy="658510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383381"/>
              <a:ext cx="1441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P09 · RISK_ACTION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1322" y="778192"/>
              <a:ext cx="365460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评估建议与后续行动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2095500"/>
              <a:ext cx="5105400" cy="36195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0" y="2095500"/>
              <a:ext cx="5410200" cy="3619500"/>
            </a:xfrm>
            <a:prstGeom prst="roundRect">
              <a:avLst>
                <a:gd name="adj" fmla="val 5263"/>
              </a:avLst>
            </a:prstGeom>
            <a:solidFill>
              <a:srgbClr val="ECFDF5"/>
            </a:solidFill>
            <a:ln w="9525">
              <a:solidFill>
                <a:srgbClr val="99F6E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7275" y="2607469"/>
              <a:ext cx="4030218" cy="1854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344"/>
                </a:lnSpc>
              </a:pPr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全面开放前，我们进行了迄今最密集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的安全评估，包括大规模红队测试、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与外部专家合作开展的严格能力与防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护测试，以及约 70 万个 NVIDIA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A100 Tensor Core GPU</a:t>
              </a:r>
              <a:br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等效小时的黑盒自动化红队测试。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67475" y="2607469"/>
              <a:ext cx="4280916" cy="6643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344"/>
                </a:lnSpc>
              </a:pPr>
              <a:r>
                <a:rPr lang="zh-CN" sz="1880" b="1" dirty="0">
                  <a:solidFill>
                    <a:srgbClr val="115E59"/>
                  </a:solidFill>
                  <a:latin typeface="+mn-lt"/>
                  <a:ea typeface="+mn-ea"/>
                  <a:cs typeface="+mn-cs"/>
                </a:rPr>
                <a:t>建议：先在受控范围复核本页披露的能</a:t>
              </a:r>
              <a:br/>
              <a:r>
                <a:rPr lang="zh-CN" sz="1880" b="1" dirty="0">
                  <a:solidFill>
                    <a:srgbClr val="115E59"/>
                  </a:solidFill>
                  <a:latin typeface="+mn-lt"/>
                  <a:ea typeface="+mn-ea"/>
                  <a:cs typeface="+mn-cs"/>
                </a:rPr>
                <a:t>力与安全边界，再决定接入节奏。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0085" y="636508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依据：已批准官方材料（封闭语料）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6585109"/>
            <a:chOff x="0" y="0"/>
            <a:chExt cx="12192000" cy="6585109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2"/>
              </a:solidFill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80085" y="383381"/>
              <a:ext cx="9899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P10 · ENDING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1322" y="778192"/>
              <a:ext cx="204320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总结与讨论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685800" y="2095500"/>
              <a:ext cx="10820400" cy="34290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85800" y="2095500"/>
              <a:ext cx="171450" cy="3429000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9106" y="2701290"/>
              <a:ext cx="8935402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结论：GPT-5.6 能编写并运行轻量程序，用于协调工具、处理中间结果、监控进度，</a:t>
              </a:r>
              <a:br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并随着工作推进选择下一步行动。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29106" y="3796665"/>
              <a:ext cx="8899398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行动：基于官方公告材料，系统梳理 GPT 5.6 的核心能力、</a:t>
              </a:r>
              <a:br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关键更新点与发布时间线，帮助团队快速理解新特性并评估其对现有业务的潜在影响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80085" y="636508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依据：已批准官方材料（封闭语料）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gent-candidate">
  <a:themeElements>
    <a:clrScheme name="agent-candidate">
      <a:dk1>
        <a:srgbClr val="1E293B"/>
      </a:dk1>
      <a:lt1>
        <a:srgbClr val="F8FAFC"/>
      </a:lt1>
      <a:dk2>
        <a:srgbClr val="1F497D"/>
      </a:dk2>
      <a:lt2>
        <a:srgbClr val="F8FAFC"/>
      </a:lt2>
      <a:accent1>
        <a:srgbClr val="0F172A"/>
      </a:accent1>
      <a:accent2>
        <a:srgbClr val="2563EB"/>
      </a:accent2>
      <a:accent3>
        <a:srgbClr val="0F766E"/>
      </a:accent3>
      <a:accent4>
        <a:srgbClr val="0F172A"/>
      </a:accent4>
      <a:accent5>
        <a:srgbClr val="E2E8F0"/>
      </a:accent5>
      <a:accent6>
        <a:srgbClr val="F79646"/>
      </a:accent6>
      <a:hlink>
        <a:srgbClr val="2563EB"/>
      </a:hlink>
      <a:folHlink>
        <a:srgbClr val="0F766E"/>
      </a:folHlink>
    </a:clrScheme>
    <a:fontScheme name="agent-candidat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gent-candid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2026-08-16T00:00:00Z</dcterms:created>
  <dcterms:modified xsi:type="dcterms:W3CDTF">2026-08-16T00:00:00Z</dcterms:modified>
  <cp:category/>
  <cp:contentStatus/>
</cp:coreProperties>
</file>